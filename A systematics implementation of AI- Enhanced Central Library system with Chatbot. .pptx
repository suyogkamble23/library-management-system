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4"/>
  </p:notesMasterIdLst>
  <p:handoutMasterIdLst>
    <p:handoutMasterId r:id="rId25"/>
  </p:handoutMasterIdLst>
  <p:sldIdLst>
    <p:sldId id="257" r:id="rId2"/>
    <p:sldId id="293" r:id="rId3"/>
    <p:sldId id="349" r:id="rId4"/>
    <p:sldId id="259" r:id="rId5"/>
    <p:sldId id="338" r:id="rId6"/>
    <p:sldId id="350" r:id="rId7"/>
    <p:sldId id="351" r:id="rId8"/>
    <p:sldId id="298" r:id="rId9"/>
    <p:sldId id="266" r:id="rId10"/>
    <p:sldId id="267" r:id="rId11"/>
    <p:sldId id="335" r:id="rId12"/>
    <p:sldId id="339" r:id="rId13"/>
    <p:sldId id="361" r:id="rId14"/>
    <p:sldId id="362" r:id="rId15"/>
    <p:sldId id="363" r:id="rId16"/>
    <p:sldId id="364" r:id="rId17"/>
    <p:sldId id="365" r:id="rId18"/>
    <p:sldId id="366" r:id="rId19"/>
    <p:sldId id="342" r:id="rId20"/>
    <p:sldId id="304" r:id="rId21"/>
    <p:sldId id="346" r:id="rId22"/>
    <p:sldId id="334" r:id="rId2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21" autoAdjust="0"/>
    <p:restoredTop sz="94660"/>
  </p:normalViewPr>
  <p:slideViewPr>
    <p:cSldViewPr>
      <p:cViewPr varScale="1">
        <p:scale>
          <a:sx n="87" d="100"/>
          <a:sy n="87" d="100"/>
        </p:scale>
        <p:origin x="1349" y="6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8AC504-24E1-4CED-922C-3570FF1AAB54}" type="datetimeFigureOut">
              <a:rPr lang="en-US" smtClean="0"/>
              <a:pPr/>
              <a:t>3/31/2024</a:t>
            </a:fld>
            <a:endParaRPr lang="en-IN"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B25209E-7B3B-49D8-B489-95427CED8389}" type="slidenum">
              <a:rPr lang="en-IN" smtClean="0"/>
              <a:pPr/>
              <a:t>‹#›</a:t>
            </a:fld>
            <a:endParaRPr lang="en-IN" dirty="0"/>
          </a:p>
        </p:txBody>
      </p:sp>
    </p:spTree>
    <p:extLst>
      <p:ext uri="{BB962C8B-B14F-4D97-AF65-F5344CB8AC3E}">
        <p14:creationId xmlns:p14="http://schemas.microsoft.com/office/powerpoint/2010/main" val="32564892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CCE1667-BC0D-4A49-AD3E-9AE3D2BB7023}" type="datetimeFigureOut">
              <a:rPr lang="en-US" smtClean="0"/>
              <a:pPr/>
              <a:t>3/31/2024</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412878-E9B4-4E52-B0AB-CDC16DC26331}" type="slidenum">
              <a:rPr lang="en-IN" smtClean="0"/>
              <a:pPr/>
              <a:t>‹#›</a:t>
            </a:fld>
            <a:endParaRPr lang="en-IN" dirty="0"/>
          </a:p>
        </p:txBody>
      </p:sp>
    </p:spTree>
    <p:extLst>
      <p:ext uri="{BB962C8B-B14F-4D97-AF65-F5344CB8AC3E}">
        <p14:creationId xmlns:p14="http://schemas.microsoft.com/office/powerpoint/2010/main" val="3837317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C69C17E-0564-4F36-BEC8-A58C5A32D5FB}" type="slidenum">
              <a:rPr lang="en-IN" smtClean="0"/>
              <a:pPr/>
              <a:t>1</a:t>
            </a:fld>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C69C17E-0564-4F36-BEC8-A58C5A32D5FB}" type="slidenum">
              <a:rPr lang="en-IN" smtClean="0"/>
              <a:pPr/>
              <a:t>2</a:t>
            </a:fld>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C69C17E-0564-4F36-BEC8-A58C5A32D5FB}" type="slidenum">
              <a:rPr lang="en-IN" smtClean="0"/>
              <a:pPr/>
              <a:t>4</a:t>
            </a:fld>
            <a:endParaRPr lang="en-I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C69C17E-0564-4F36-BEC8-A58C5A32D5FB}" type="slidenum">
              <a:rPr lang="en-IN" smtClean="0"/>
              <a:pPr/>
              <a:t>8</a:t>
            </a:fld>
            <a:endParaRPr lang="en-I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C69C17E-0564-4F36-BEC8-A58C5A32D5FB}" type="slidenum">
              <a:rPr lang="en-IN" smtClean="0"/>
              <a:pPr/>
              <a:t>9</a:t>
            </a:fld>
            <a:endParaRPr lang="en-I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C69C17E-0564-4F36-BEC8-A58C5A32D5FB}" type="slidenum">
              <a:rPr lang="en-IN" smtClean="0"/>
              <a:pPr/>
              <a:t>10</a:t>
            </a:fld>
            <a:endParaRPr lang="en-I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C69C17E-0564-4F36-BEC8-A58C5A32D5FB}" type="slidenum">
              <a:rPr lang="en-IN" smtClean="0"/>
              <a:pPr/>
              <a:t>11</a:t>
            </a:fld>
            <a:endParaRPr lang="en-I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C69C17E-0564-4F36-BEC8-A58C5A32D5FB}" type="slidenum">
              <a:rPr lang="en-IN" smtClean="0"/>
              <a:pPr/>
              <a:t>20</a:t>
            </a:fld>
            <a:endParaRPr lang="en-I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C69C17E-0564-4F36-BEC8-A58C5A32D5FB}" type="slidenum">
              <a:rPr lang="en-IN" smtClean="0"/>
              <a:pPr/>
              <a:t>22</a:t>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p:cNvCxnSpPr/>
          <p:nvPr/>
        </p:nvCxnSpPr>
        <p:spPr>
          <a:xfrm>
            <a:off x="642938" y="6215063"/>
            <a:ext cx="8001000" cy="1587"/>
          </a:xfrm>
          <a:prstGeom prst="line">
            <a:avLst/>
          </a:prstGeom>
          <a:ln w="34925">
            <a:solidFill>
              <a:srgbClr val="800000"/>
            </a:solidFill>
          </a:ln>
        </p:spPr>
        <p:style>
          <a:lnRef idx="1">
            <a:schemeClr val="accent1"/>
          </a:lnRef>
          <a:fillRef idx="0">
            <a:schemeClr val="accent1"/>
          </a:fillRef>
          <a:effectRef idx="0">
            <a:schemeClr val="accent1"/>
          </a:effectRef>
          <a:fontRef idx="minor">
            <a:schemeClr val="tx1"/>
          </a:fontRef>
        </p:style>
      </p:cxnSp>
      <p:pic>
        <p:nvPicPr>
          <p:cNvPr id="5" name="Picture 7" descr="ARMIET LOGO.jpg"/>
          <p:cNvPicPr>
            <a:picLocks noChangeAspect="1"/>
          </p:cNvPicPr>
          <p:nvPr/>
        </p:nvPicPr>
        <p:blipFill>
          <a:blip r:embed="rId2" cstate="print"/>
          <a:srcRect/>
          <a:stretch>
            <a:fillRect/>
          </a:stretch>
        </p:blipFill>
        <p:spPr bwMode="auto">
          <a:xfrm>
            <a:off x="7286625" y="6286500"/>
            <a:ext cx="1357313" cy="417513"/>
          </a:xfrm>
          <a:prstGeom prst="rect">
            <a:avLst/>
          </a:prstGeom>
          <a:noFill/>
          <a:ln w="9525">
            <a:noFill/>
            <a:miter lim="800000"/>
            <a:headEnd/>
            <a:tailEnd/>
          </a:ln>
        </p:spPr>
      </p:pic>
      <p:sp>
        <p:nvSpPr>
          <p:cNvPr id="6" name="Rounded Rectangle 5"/>
          <p:cNvSpPr/>
          <p:nvPr/>
        </p:nvSpPr>
        <p:spPr>
          <a:xfrm>
            <a:off x="714348" y="1142984"/>
            <a:ext cx="7715304" cy="1500198"/>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endParaRPr lang="en-IN" dirty="0">
              <a:solidFill>
                <a:schemeClr val="bg1"/>
              </a:solidFill>
            </a:endParaRPr>
          </a:p>
        </p:txBody>
      </p:sp>
      <p:sp>
        <p:nvSpPr>
          <p:cNvPr id="7" name="Rounded Rectangle 6"/>
          <p:cNvSpPr/>
          <p:nvPr/>
        </p:nvSpPr>
        <p:spPr>
          <a:xfrm>
            <a:off x="785813" y="2714625"/>
            <a:ext cx="7643812" cy="71438"/>
          </a:xfrm>
          <a:prstGeom prst="roundRect">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endParaRPr lang="en-IN" dirty="0"/>
          </a:p>
        </p:txBody>
      </p:sp>
      <p:sp>
        <p:nvSpPr>
          <p:cNvPr id="2" name="Title 1"/>
          <p:cNvSpPr>
            <a:spLocks noGrp="1"/>
          </p:cNvSpPr>
          <p:nvPr>
            <p:ph type="ctrTitle"/>
          </p:nvPr>
        </p:nvSpPr>
        <p:spPr>
          <a:xfrm>
            <a:off x="685800" y="1244595"/>
            <a:ext cx="7772400" cy="1470025"/>
          </a:xfrm>
        </p:spPr>
        <p:txBody>
          <a:bodyPr/>
          <a:lstStyle>
            <a:lvl1pPr>
              <a:defRPr>
                <a:solidFill>
                  <a:schemeClr val="bg1"/>
                </a:solidFill>
              </a:defRPr>
            </a:lvl1pPr>
          </a:lstStyle>
          <a:p>
            <a:r>
              <a:rPr lang="en-US"/>
              <a:t>Click to edit Master title style</a:t>
            </a:r>
            <a:endParaRPr lang="en-IN"/>
          </a:p>
        </p:txBody>
      </p:sp>
      <p:sp>
        <p:nvSpPr>
          <p:cNvPr id="3" name="Subtitle 2"/>
          <p:cNvSpPr>
            <a:spLocks noGrp="1"/>
          </p:cNvSpPr>
          <p:nvPr>
            <p:ph type="subTitle" idx="1"/>
          </p:nvPr>
        </p:nvSpPr>
        <p:spPr>
          <a:xfrm>
            <a:off x="1371600" y="3248036"/>
            <a:ext cx="6400800" cy="1752600"/>
          </a:xfrm>
        </p:spPr>
        <p:txBody>
          <a:bodyPr/>
          <a:lstStyle>
            <a:lvl1pPr marL="0" indent="0" algn="ctr">
              <a:buNone/>
              <a:defRPr>
                <a:solidFill>
                  <a:srgbClr val="A5002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8" name="Date Placeholder 3"/>
          <p:cNvSpPr>
            <a:spLocks noGrp="1"/>
          </p:cNvSpPr>
          <p:nvPr>
            <p:ph type="dt" sz="half" idx="10"/>
          </p:nvPr>
        </p:nvSpPr>
        <p:spPr/>
        <p:txBody>
          <a:bodyPr/>
          <a:lstStyle>
            <a:lvl1pPr>
              <a:defRPr/>
            </a:lvl1pPr>
          </a:lstStyle>
          <a:p>
            <a:pPr>
              <a:defRPr/>
            </a:pPr>
            <a:fld id="{5DC44F4C-298C-413B-9B51-AA9592D1C925}" type="datetimeFigureOut">
              <a:rPr lang="en-US"/>
              <a:pPr>
                <a:defRPr/>
              </a:pPr>
              <a:t>3/31/2024</a:t>
            </a:fld>
            <a:endParaRPr lang="en-US" dirty="0"/>
          </a:p>
        </p:txBody>
      </p:sp>
      <p:sp>
        <p:nvSpPr>
          <p:cNvPr id="9" name="Footer Placeholder 4"/>
          <p:cNvSpPr>
            <a:spLocks noGrp="1"/>
          </p:cNvSpPr>
          <p:nvPr>
            <p:ph type="ftr" sz="quarter" idx="11"/>
          </p:nvPr>
        </p:nvSpPr>
        <p:spPr/>
        <p:txBody>
          <a:bodyPr/>
          <a:lstStyle>
            <a:lvl1pPr>
              <a:defRPr/>
            </a:lvl1pPr>
          </a:lstStyle>
          <a:p>
            <a:pPr>
              <a:defRPr/>
            </a:pPr>
            <a:endParaRPr lang="en-US" dirty="0"/>
          </a:p>
        </p:txBody>
      </p:sp>
      <p:sp>
        <p:nvSpPr>
          <p:cNvPr id="10" name="Slide Number Placeholder 5"/>
          <p:cNvSpPr>
            <a:spLocks noGrp="1"/>
          </p:cNvSpPr>
          <p:nvPr>
            <p:ph type="sldNum" sz="quarter" idx="12"/>
          </p:nvPr>
        </p:nvSpPr>
        <p:spPr/>
        <p:txBody>
          <a:bodyPr/>
          <a:lstStyle>
            <a:lvl1pPr>
              <a:defRPr/>
            </a:lvl1pPr>
          </a:lstStyle>
          <a:p>
            <a:pPr>
              <a:defRPr/>
            </a:pPr>
            <a:fld id="{5D639752-FE49-4895-AA88-0F73436AFFCF}"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642938" y="6215063"/>
            <a:ext cx="8001000" cy="1587"/>
          </a:xfrm>
          <a:prstGeom prst="line">
            <a:avLst/>
          </a:prstGeom>
          <a:ln w="34925">
            <a:solidFill>
              <a:srgbClr val="A50021"/>
            </a:solidFill>
          </a:ln>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a:off x="500034" y="285728"/>
            <a:ext cx="8358246" cy="785818"/>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endParaRPr lang="en-IN" dirty="0">
              <a:solidFill>
                <a:schemeClr val="bg1"/>
              </a:solidFill>
            </a:endParaRPr>
          </a:p>
        </p:txBody>
      </p:sp>
      <p:pic>
        <p:nvPicPr>
          <p:cNvPr id="6" name="Picture 8" descr="ARMIET LOGO.jpg"/>
          <p:cNvPicPr>
            <a:picLocks noChangeAspect="1"/>
          </p:cNvPicPr>
          <p:nvPr/>
        </p:nvPicPr>
        <p:blipFill>
          <a:blip r:embed="rId2" cstate="print"/>
          <a:srcRect/>
          <a:stretch>
            <a:fillRect/>
          </a:stretch>
        </p:blipFill>
        <p:spPr bwMode="auto">
          <a:xfrm>
            <a:off x="7286625" y="6286500"/>
            <a:ext cx="1357313" cy="417513"/>
          </a:xfrm>
          <a:prstGeom prst="rect">
            <a:avLst/>
          </a:prstGeom>
          <a:noFill/>
          <a:ln w="9525">
            <a:noFill/>
            <a:miter lim="800000"/>
            <a:headEnd/>
            <a:tailEnd/>
          </a:ln>
        </p:spPr>
      </p:pic>
      <p:sp>
        <p:nvSpPr>
          <p:cNvPr id="7" name="Rounded Rectangle 6"/>
          <p:cNvSpPr/>
          <p:nvPr/>
        </p:nvSpPr>
        <p:spPr>
          <a:xfrm>
            <a:off x="479425" y="1130300"/>
            <a:ext cx="8358188" cy="71438"/>
          </a:xfrm>
          <a:prstGeom prst="roundRect">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endParaRPr lang="en-IN" dirty="0"/>
          </a:p>
        </p:txBody>
      </p:sp>
      <p:sp>
        <p:nvSpPr>
          <p:cNvPr id="2" name="Title 1"/>
          <p:cNvSpPr>
            <a:spLocks noGrp="1"/>
          </p:cNvSpPr>
          <p:nvPr>
            <p:ph type="title"/>
          </p:nvPr>
        </p:nvSpPr>
        <p:spPr>
          <a:xfrm>
            <a:off x="457200" y="274638"/>
            <a:ext cx="8229600" cy="796908"/>
          </a:xfrm>
        </p:spPr>
        <p:txBody>
          <a:bodyPr/>
          <a:lstStyle>
            <a:lvl1pPr>
              <a:defRPr>
                <a:solidFill>
                  <a:schemeClr val="bg1"/>
                </a:solidFill>
              </a:defRPr>
            </a:lvl1pPr>
          </a:lstStyle>
          <a:p>
            <a:r>
              <a:rPr lang="en-US"/>
              <a:t>Click to edit Master title style</a:t>
            </a:r>
            <a:endParaRPr lang="en-IN" dirty="0"/>
          </a:p>
        </p:txBody>
      </p:sp>
      <p:sp>
        <p:nvSpPr>
          <p:cNvPr id="3" name="Content Placeholder 2"/>
          <p:cNvSpPr>
            <a:spLocks noGrp="1"/>
          </p:cNvSpPr>
          <p:nvPr>
            <p:ph idx="1"/>
          </p:nvPr>
        </p:nvSpPr>
        <p:spPr/>
        <p:txBody>
          <a:bodyPr/>
          <a:lstStyle>
            <a:lvl1pPr>
              <a:defRPr>
                <a:solidFill>
                  <a:srgbClr val="A50021"/>
                </a:solidFill>
              </a:defRPr>
            </a:lvl1pPr>
            <a:lvl2pPr>
              <a:defRPr>
                <a:solidFill>
                  <a:srgbClr val="A50021"/>
                </a:solidFill>
              </a:defRPr>
            </a:lvl2pPr>
            <a:lvl3pPr>
              <a:defRPr>
                <a:solidFill>
                  <a:srgbClr val="A50021"/>
                </a:solidFill>
              </a:defRPr>
            </a:lvl3pPr>
            <a:lvl4pPr>
              <a:defRPr>
                <a:solidFill>
                  <a:srgbClr val="A50021"/>
                </a:solidFill>
              </a:defRPr>
            </a:lvl4pPr>
            <a:lvl5pPr>
              <a:defRPr>
                <a:solidFill>
                  <a:srgbClr val="A5002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8" name="Date Placeholder 3"/>
          <p:cNvSpPr>
            <a:spLocks noGrp="1"/>
          </p:cNvSpPr>
          <p:nvPr>
            <p:ph type="dt" sz="half" idx="10"/>
          </p:nvPr>
        </p:nvSpPr>
        <p:spPr/>
        <p:txBody>
          <a:bodyPr/>
          <a:lstStyle>
            <a:lvl1pPr>
              <a:defRPr/>
            </a:lvl1pPr>
          </a:lstStyle>
          <a:p>
            <a:pPr>
              <a:defRPr/>
            </a:pPr>
            <a:fld id="{48A13DDB-16D6-4B89-893C-69C59981C03F}" type="datetimeFigureOut">
              <a:rPr lang="en-US"/>
              <a:pPr>
                <a:defRPr/>
              </a:pPr>
              <a:t>3/31/2024</a:t>
            </a:fld>
            <a:endParaRPr lang="en-US" dirty="0"/>
          </a:p>
        </p:txBody>
      </p:sp>
      <p:sp>
        <p:nvSpPr>
          <p:cNvPr id="9" name="Footer Placeholder 4"/>
          <p:cNvSpPr>
            <a:spLocks noGrp="1"/>
          </p:cNvSpPr>
          <p:nvPr>
            <p:ph type="ftr" sz="quarter" idx="11"/>
          </p:nvPr>
        </p:nvSpPr>
        <p:spPr/>
        <p:txBody>
          <a:bodyPr/>
          <a:lstStyle>
            <a:lvl1pPr>
              <a:defRPr/>
            </a:lvl1pPr>
          </a:lstStyle>
          <a:p>
            <a:pPr>
              <a:defRPr/>
            </a:pPr>
            <a:endParaRPr lang="en-US" dirty="0"/>
          </a:p>
        </p:txBody>
      </p:sp>
      <p:sp>
        <p:nvSpPr>
          <p:cNvPr id="10" name="Slide Number Placeholder 5"/>
          <p:cNvSpPr>
            <a:spLocks noGrp="1"/>
          </p:cNvSpPr>
          <p:nvPr>
            <p:ph type="sldNum" sz="quarter" idx="12"/>
          </p:nvPr>
        </p:nvSpPr>
        <p:spPr/>
        <p:txBody>
          <a:bodyPr/>
          <a:lstStyle>
            <a:lvl1pPr>
              <a:defRPr/>
            </a:lvl1pPr>
          </a:lstStyle>
          <a:p>
            <a:pPr>
              <a:defRPr/>
            </a:pPr>
            <a:fld id="{8913BBA4-8C18-4EFF-A774-D894C522E10D}"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2C0D6E1-8C55-4F86-8C3B-E7C4EF6D9982}" type="datetimeFigureOut">
              <a:rPr lang="en-US"/>
              <a:pPr>
                <a:defRPr/>
              </a:pPr>
              <a:t>3/31/2024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37DFA5C-41B7-4D9C-84BA-0C9CEFD2F17D}"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p:nvCxnSpPr>
        <p:spPr>
          <a:xfrm>
            <a:off x="642938" y="6215063"/>
            <a:ext cx="8001000" cy="1587"/>
          </a:xfrm>
          <a:prstGeom prst="line">
            <a:avLst/>
          </a:prstGeom>
          <a:ln w="34925">
            <a:solidFill>
              <a:srgbClr val="A50021"/>
            </a:solidFill>
          </a:ln>
        </p:spPr>
        <p:style>
          <a:lnRef idx="1">
            <a:schemeClr val="accent1"/>
          </a:lnRef>
          <a:fillRef idx="0">
            <a:schemeClr val="accent1"/>
          </a:fillRef>
          <a:effectRef idx="0">
            <a:schemeClr val="accent1"/>
          </a:effectRef>
          <a:fontRef idx="minor">
            <a:schemeClr val="tx1"/>
          </a:fontRef>
        </p:style>
      </p:cxnSp>
      <p:sp>
        <p:nvSpPr>
          <p:cNvPr id="6" name="Rounded Rectangle 5"/>
          <p:cNvSpPr/>
          <p:nvPr/>
        </p:nvSpPr>
        <p:spPr>
          <a:xfrm>
            <a:off x="500034" y="285728"/>
            <a:ext cx="8358246" cy="785818"/>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endParaRPr lang="en-IN" dirty="0">
              <a:solidFill>
                <a:schemeClr val="bg1"/>
              </a:solidFill>
            </a:endParaRPr>
          </a:p>
        </p:txBody>
      </p:sp>
      <p:pic>
        <p:nvPicPr>
          <p:cNvPr id="7" name="Picture 8" descr="ARMIET LOGO.jpg"/>
          <p:cNvPicPr>
            <a:picLocks noChangeAspect="1"/>
          </p:cNvPicPr>
          <p:nvPr/>
        </p:nvPicPr>
        <p:blipFill>
          <a:blip r:embed="rId2" cstate="print"/>
          <a:srcRect/>
          <a:stretch>
            <a:fillRect/>
          </a:stretch>
        </p:blipFill>
        <p:spPr bwMode="auto">
          <a:xfrm>
            <a:off x="7286625" y="6286500"/>
            <a:ext cx="1357313" cy="417513"/>
          </a:xfrm>
          <a:prstGeom prst="rect">
            <a:avLst/>
          </a:prstGeom>
          <a:noFill/>
          <a:ln w="9525">
            <a:noFill/>
            <a:miter lim="800000"/>
            <a:headEnd/>
            <a:tailEnd/>
          </a:ln>
        </p:spPr>
      </p:pic>
      <p:sp>
        <p:nvSpPr>
          <p:cNvPr id="8" name="Rounded Rectangle 7"/>
          <p:cNvSpPr/>
          <p:nvPr/>
        </p:nvSpPr>
        <p:spPr>
          <a:xfrm>
            <a:off x="479425" y="1130300"/>
            <a:ext cx="8358188" cy="71438"/>
          </a:xfrm>
          <a:prstGeom prst="roundRect">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endParaRPr lang="en-IN" dirty="0"/>
          </a:p>
        </p:txBody>
      </p:sp>
      <p:sp>
        <p:nvSpPr>
          <p:cNvPr id="2" name="Title 1"/>
          <p:cNvSpPr>
            <a:spLocks noGrp="1"/>
          </p:cNvSpPr>
          <p:nvPr>
            <p:ph type="title"/>
          </p:nvPr>
        </p:nvSpPr>
        <p:spPr>
          <a:xfrm>
            <a:off x="457200" y="274638"/>
            <a:ext cx="8229600" cy="725470"/>
          </a:xfrm>
        </p:spPr>
        <p:txBody>
          <a:bodyPr/>
          <a:lstStyle>
            <a:lvl1pPr>
              <a:defRPr>
                <a:solidFill>
                  <a:schemeClr val="bg1"/>
                </a:solidFill>
              </a:defRPr>
            </a:lvl1p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solidFill>
                  <a:srgbClr val="A50021"/>
                </a:solidFill>
              </a:defRPr>
            </a:lvl1pPr>
            <a:lvl2pPr>
              <a:defRPr sz="2400">
                <a:solidFill>
                  <a:srgbClr val="A50021"/>
                </a:solidFill>
              </a:defRPr>
            </a:lvl2pPr>
            <a:lvl3pPr>
              <a:defRPr sz="2000">
                <a:solidFill>
                  <a:srgbClr val="A50021"/>
                </a:solidFill>
              </a:defRPr>
            </a:lvl3pPr>
            <a:lvl4pPr>
              <a:defRPr sz="1800">
                <a:solidFill>
                  <a:srgbClr val="A50021"/>
                </a:solidFill>
              </a:defRPr>
            </a:lvl4pPr>
            <a:lvl5pPr>
              <a:defRPr sz="1800">
                <a:solidFill>
                  <a:srgbClr val="A5002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solidFill>
                  <a:srgbClr val="A50021"/>
                </a:solidFill>
              </a:defRPr>
            </a:lvl1pPr>
            <a:lvl2pPr>
              <a:defRPr sz="2400">
                <a:solidFill>
                  <a:srgbClr val="A50021"/>
                </a:solidFill>
              </a:defRPr>
            </a:lvl2pPr>
            <a:lvl3pPr>
              <a:defRPr sz="2000">
                <a:solidFill>
                  <a:srgbClr val="A50021"/>
                </a:solidFill>
              </a:defRPr>
            </a:lvl3pPr>
            <a:lvl4pPr>
              <a:defRPr sz="1800">
                <a:solidFill>
                  <a:srgbClr val="A50021"/>
                </a:solidFill>
              </a:defRPr>
            </a:lvl4pPr>
            <a:lvl5pPr>
              <a:defRPr sz="1800">
                <a:solidFill>
                  <a:srgbClr val="A5002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Date Placeholder 4"/>
          <p:cNvSpPr>
            <a:spLocks noGrp="1"/>
          </p:cNvSpPr>
          <p:nvPr>
            <p:ph type="dt" sz="half" idx="10"/>
          </p:nvPr>
        </p:nvSpPr>
        <p:spPr/>
        <p:txBody>
          <a:bodyPr/>
          <a:lstStyle>
            <a:lvl1pPr>
              <a:defRPr/>
            </a:lvl1pPr>
          </a:lstStyle>
          <a:p>
            <a:pPr>
              <a:defRPr/>
            </a:pPr>
            <a:fld id="{8EBE1EDA-7C71-4028-89B9-49796BE5501D}" type="datetimeFigureOut">
              <a:rPr lang="en-US"/>
              <a:pPr>
                <a:defRPr/>
              </a:pPr>
              <a:t>3/31/2024</a:t>
            </a:fld>
            <a:endParaRPr lang="en-US" dirty="0"/>
          </a:p>
        </p:txBody>
      </p:sp>
      <p:sp>
        <p:nvSpPr>
          <p:cNvPr id="10" name="Footer Placeholder 5"/>
          <p:cNvSpPr>
            <a:spLocks noGrp="1"/>
          </p:cNvSpPr>
          <p:nvPr>
            <p:ph type="ftr" sz="quarter" idx="11"/>
          </p:nvPr>
        </p:nvSpPr>
        <p:spPr/>
        <p:txBody>
          <a:bodyPr/>
          <a:lstStyle>
            <a:lvl1pPr>
              <a:defRPr/>
            </a:lvl1pPr>
          </a:lstStyle>
          <a:p>
            <a:pPr>
              <a:defRPr/>
            </a:pPr>
            <a:endParaRPr lang="en-US" dirty="0"/>
          </a:p>
        </p:txBody>
      </p:sp>
      <p:sp>
        <p:nvSpPr>
          <p:cNvPr id="11" name="Slide Number Placeholder 6"/>
          <p:cNvSpPr>
            <a:spLocks noGrp="1"/>
          </p:cNvSpPr>
          <p:nvPr>
            <p:ph type="sldNum" sz="quarter" idx="12"/>
          </p:nvPr>
        </p:nvSpPr>
        <p:spPr/>
        <p:txBody>
          <a:bodyPr/>
          <a:lstStyle>
            <a:lvl1pPr>
              <a:defRPr/>
            </a:lvl1pPr>
          </a:lstStyle>
          <a:p>
            <a:pPr>
              <a:defRPr/>
            </a:pPr>
            <a:fld id="{900833A8-16DF-4549-987A-11EE4988CCCA}"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Title 1"/>
          <p:cNvSpPr txBox="1">
            <a:spLocks/>
          </p:cNvSpPr>
          <p:nvPr/>
        </p:nvSpPr>
        <p:spPr>
          <a:xfrm>
            <a:off x="457200" y="274638"/>
            <a:ext cx="8229600" cy="725487"/>
          </a:xfrm>
          <a:prstGeom prst="rect">
            <a:avLst/>
          </a:prstGeom>
        </p:spPr>
        <p:txBody>
          <a:bodyPr anchor="ctr">
            <a:normAutofit lnSpcReduction="10000"/>
          </a:bodyPr>
          <a:lstStyle>
            <a:lvl1pPr>
              <a:defRPr>
                <a:solidFill>
                  <a:schemeClr val="bg1"/>
                </a:solidFill>
              </a:defRPr>
            </a:lvl1pPr>
          </a:lstStyle>
          <a:p>
            <a:pPr algn="ctr" fontAlgn="auto">
              <a:spcAft>
                <a:spcPts val="0"/>
              </a:spcAft>
              <a:defRPr/>
            </a:pPr>
            <a:r>
              <a:rPr lang="en-US" sz="4400" dirty="0">
                <a:latin typeface="+mj-lt"/>
                <a:ea typeface="+mj-ea"/>
                <a:cs typeface="+mj-cs"/>
              </a:rPr>
              <a:t>Click to edit Master title style</a:t>
            </a:r>
            <a:endParaRPr lang="en-IN" sz="4400" dirty="0">
              <a:latin typeface="+mj-lt"/>
              <a:ea typeface="+mj-ea"/>
              <a:cs typeface="+mj-cs"/>
            </a:endParaRPr>
          </a:p>
        </p:txBody>
      </p:sp>
      <p:cxnSp>
        <p:nvCxnSpPr>
          <p:cNvPr id="8" name="Straight Connector 7"/>
          <p:cNvCxnSpPr/>
          <p:nvPr/>
        </p:nvCxnSpPr>
        <p:spPr>
          <a:xfrm>
            <a:off x="642938" y="6215063"/>
            <a:ext cx="8001000" cy="1587"/>
          </a:xfrm>
          <a:prstGeom prst="line">
            <a:avLst/>
          </a:prstGeom>
          <a:ln w="34925">
            <a:solidFill>
              <a:srgbClr val="A50021"/>
            </a:solidFill>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500034" y="285728"/>
            <a:ext cx="8358246" cy="785818"/>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endParaRPr lang="en-IN" dirty="0">
              <a:solidFill>
                <a:schemeClr val="bg1"/>
              </a:solidFill>
            </a:endParaRPr>
          </a:p>
        </p:txBody>
      </p:sp>
      <p:pic>
        <p:nvPicPr>
          <p:cNvPr id="10" name="Picture 9" descr="ARMIET LOGO.jpg"/>
          <p:cNvPicPr>
            <a:picLocks noChangeAspect="1"/>
          </p:cNvPicPr>
          <p:nvPr/>
        </p:nvPicPr>
        <p:blipFill>
          <a:blip r:embed="rId2" cstate="print"/>
          <a:srcRect/>
          <a:stretch>
            <a:fillRect/>
          </a:stretch>
        </p:blipFill>
        <p:spPr bwMode="auto">
          <a:xfrm>
            <a:off x="7286625" y="6286500"/>
            <a:ext cx="1357313" cy="417513"/>
          </a:xfrm>
          <a:prstGeom prst="rect">
            <a:avLst/>
          </a:prstGeom>
          <a:noFill/>
          <a:ln w="9525">
            <a:noFill/>
            <a:miter lim="800000"/>
            <a:headEnd/>
            <a:tailEnd/>
          </a:ln>
        </p:spPr>
      </p:pic>
      <p:sp>
        <p:nvSpPr>
          <p:cNvPr id="11" name="Rounded Rectangle 10"/>
          <p:cNvSpPr/>
          <p:nvPr/>
        </p:nvSpPr>
        <p:spPr>
          <a:xfrm>
            <a:off x="479425" y="1130300"/>
            <a:ext cx="8358188" cy="71438"/>
          </a:xfrm>
          <a:prstGeom prst="roundRect">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endParaRPr lang="en-IN"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rgbClr val="A5002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rgbClr val="A50021"/>
                </a:solidFill>
              </a:defRPr>
            </a:lvl1pPr>
            <a:lvl2pPr>
              <a:defRPr sz="2000">
                <a:solidFill>
                  <a:srgbClr val="A50021"/>
                </a:solidFill>
              </a:defRPr>
            </a:lvl2pPr>
            <a:lvl3pPr>
              <a:defRPr sz="1800">
                <a:solidFill>
                  <a:srgbClr val="A50021"/>
                </a:solidFill>
              </a:defRPr>
            </a:lvl3pPr>
            <a:lvl4pPr>
              <a:defRPr sz="1600">
                <a:solidFill>
                  <a:srgbClr val="A50021"/>
                </a:solidFill>
              </a:defRPr>
            </a:lvl4pPr>
            <a:lvl5pPr>
              <a:defRPr sz="1600">
                <a:solidFill>
                  <a:srgbClr val="A5002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rgbClr val="A5002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rgbClr val="A50021"/>
                </a:solidFill>
              </a:defRPr>
            </a:lvl1pPr>
            <a:lvl2pPr>
              <a:defRPr sz="2000">
                <a:solidFill>
                  <a:srgbClr val="A50021"/>
                </a:solidFill>
              </a:defRPr>
            </a:lvl2pPr>
            <a:lvl3pPr>
              <a:defRPr sz="1800">
                <a:solidFill>
                  <a:srgbClr val="A50021"/>
                </a:solidFill>
              </a:defRPr>
            </a:lvl3pPr>
            <a:lvl4pPr>
              <a:defRPr sz="1600">
                <a:solidFill>
                  <a:srgbClr val="A50021"/>
                </a:solidFill>
              </a:defRPr>
            </a:lvl4pPr>
            <a:lvl5pPr>
              <a:defRPr sz="1600">
                <a:solidFill>
                  <a:srgbClr val="A5002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itle 1"/>
          <p:cNvSpPr>
            <a:spLocks noGrp="1"/>
          </p:cNvSpPr>
          <p:nvPr>
            <p:ph type="title"/>
          </p:nvPr>
        </p:nvSpPr>
        <p:spPr>
          <a:xfrm>
            <a:off x="457200" y="274638"/>
            <a:ext cx="8229600" cy="796908"/>
          </a:xfrm>
        </p:spPr>
        <p:txBody>
          <a:bodyPr/>
          <a:lstStyle>
            <a:lvl1pPr>
              <a:defRPr>
                <a:solidFill>
                  <a:schemeClr val="bg1"/>
                </a:solidFill>
              </a:defRPr>
            </a:lvl1pPr>
          </a:lstStyle>
          <a:p>
            <a:r>
              <a:rPr lang="en-US"/>
              <a:t>Click to edit Master title style</a:t>
            </a:r>
            <a:endParaRPr lang="en-IN" dirty="0"/>
          </a:p>
        </p:txBody>
      </p:sp>
      <p:sp>
        <p:nvSpPr>
          <p:cNvPr id="12" name="Date Placeholder 6"/>
          <p:cNvSpPr>
            <a:spLocks noGrp="1"/>
          </p:cNvSpPr>
          <p:nvPr>
            <p:ph type="dt" sz="half" idx="10"/>
          </p:nvPr>
        </p:nvSpPr>
        <p:spPr/>
        <p:txBody>
          <a:bodyPr/>
          <a:lstStyle>
            <a:lvl1pPr>
              <a:defRPr/>
            </a:lvl1pPr>
          </a:lstStyle>
          <a:p>
            <a:pPr>
              <a:defRPr/>
            </a:pPr>
            <a:fld id="{D1953A05-066F-4A13-85CA-7D43FFB3F98B}" type="datetimeFigureOut">
              <a:rPr lang="en-US"/>
              <a:pPr>
                <a:defRPr/>
              </a:pPr>
              <a:t>3/31/2024</a:t>
            </a:fld>
            <a:endParaRPr lang="en-US" dirty="0"/>
          </a:p>
        </p:txBody>
      </p:sp>
      <p:sp>
        <p:nvSpPr>
          <p:cNvPr id="13" name="Footer Placeholder 7"/>
          <p:cNvSpPr>
            <a:spLocks noGrp="1"/>
          </p:cNvSpPr>
          <p:nvPr>
            <p:ph type="ftr" sz="quarter" idx="11"/>
          </p:nvPr>
        </p:nvSpPr>
        <p:spPr/>
        <p:txBody>
          <a:bodyPr/>
          <a:lstStyle>
            <a:lvl1pPr>
              <a:defRPr/>
            </a:lvl1pPr>
          </a:lstStyle>
          <a:p>
            <a:pPr>
              <a:defRPr/>
            </a:pPr>
            <a:endParaRPr lang="en-US" dirty="0"/>
          </a:p>
        </p:txBody>
      </p:sp>
      <p:sp>
        <p:nvSpPr>
          <p:cNvPr id="14" name="Slide Number Placeholder 8"/>
          <p:cNvSpPr>
            <a:spLocks noGrp="1"/>
          </p:cNvSpPr>
          <p:nvPr>
            <p:ph type="sldNum" sz="quarter" idx="12"/>
          </p:nvPr>
        </p:nvSpPr>
        <p:spPr/>
        <p:txBody>
          <a:bodyPr/>
          <a:lstStyle>
            <a:lvl1pPr>
              <a:defRPr/>
            </a:lvl1pPr>
          </a:lstStyle>
          <a:p>
            <a:pPr>
              <a:defRPr/>
            </a:pPr>
            <a:fld id="{76667FFC-031A-4269-9E62-7D5F250417F8}"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p:nvCxnSpPr>
        <p:spPr>
          <a:xfrm>
            <a:off x="642938" y="6215063"/>
            <a:ext cx="8001000" cy="1587"/>
          </a:xfrm>
          <a:prstGeom prst="line">
            <a:avLst/>
          </a:prstGeom>
          <a:ln w="34925">
            <a:solidFill>
              <a:srgbClr val="A50021"/>
            </a:solidFill>
          </a:ln>
        </p:spPr>
        <p:style>
          <a:lnRef idx="1">
            <a:schemeClr val="accent1"/>
          </a:lnRef>
          <a:fillRef idx="0">
            <a:schemeClr val="accent1"/>
          </a:fillRef>
          <a:effectRef idx="0">
            <a:schemeClr val="accent1"/>
          </a:effectRef>
          <a:fontRef idx="minor">
            <a:schemeClr val="tx1"/>
          </a:fontRef>
        </p:style>
      </p:cxnSp>
      <p:sp>
        <p:nvSpPr>
          <p:cNvPr id="4" name="Rounded Rectangle 3"/>
          <p:cNvSpPr/>
          <p:nvPr/>
        </p:nvSpPr>
        <p:spPr>
          <a:xfrm>
            <a:off x="500034" y="285728"/>
            <a:ext cx="8358246" cy="785818"/>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endParaRPr lang="en-IN" dirty="0">
              <a:solidFill>
                <a:schemeClr val="bg1"/>
              </a:solidFill>
            </a:endParaRPr>
          </a:p>
        </p:txBody>
      </p:sp>
      <p:pic>
        <p:nvPicPr>
          <p:cNvPr id="5" name="Picture 8" descr="ARMIET LOGO.jpg"/>
          <p:cNvPicPr>
            <a:picLocks noChangeAspect="1"/>
          </p:cNvPicPr>
          <p:nvPr/>
        </p:nvPicPr>
        <p:blipFill>
          <a:blip r:embed="rId2" cstate="print"/>
          <a:srcRect/>
          <a:stretch>
            <a:fillRect/>
          </a:stretch>
        </p:blipFill>
        <p:spPr bwMode="auto">
          <a:xfrm>
            <a:off x="7286625" y="6286500"/>
            <a:ext cx="1357313" cy="417513"/>
          </a:xfrm>
          <a:prstGeom prst="rect">
            <a:avLst/>
          </a:prstGeom>
          <a:noFill/>
          <a:ln w="9525">
            <a:noFill/>
            <a:miter lim="800000"/>
            <a:headEnd/>
            <a:tailEnd/>
          </a:ln>
        </p:spPr>
      </p:pic>
      <p:sp>
        <p:nvSpPr>
          <p:cNvPr id="6" name="Rounded Rectangle 5"/>
          <p:cNvSpPr/>
          <p:nvPr/>
        </p:nvSpPr>
        <p:spPr>
          <a:xfrm>
            <a:off x="479425" y="1130300"/>
            <a:ext cx="8358188" cy="71438"/>
          </a:xfrm>
          <a:prstGeom prst="roundRect">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endParaRPr lang="en-IN" dirty="0"/>
          </a:p>
        </p:txBody>
      </p:sp>
      <p:sp>
        <p:nvSpPr>
          <p:cNvPr id="2" name="Title 1"/>
          <p:cNvSpPr>
            <a:spLocks noGrp="1"/>
          </p:cNvSpPr>
          <p:nvPr>
            <p:ph type="title"/>
          </p:nvPr>
        </p:nvSpPr>
        <p:spPr>
          <a:xfrm>
            <a:off x="457200" y="274638"/>
            <a:ext cx="8229600" cy="796908"/>
          </a:xfrm>
        </p:spPr>
        <p:txBody>
          <a:bodyPr/>
          <a:lstStyle>
            <a:lvl1pPr>
              <a:defRPr>
                <a:solidFill>
                  <a:schemeClr val="bg1"/>
                </a:solidFill>
              </a:defRPr>
            </a:lvl1pPr>
          </a:lstStyle>
          <a:p>
            <a:r>
              <a:rPr lang="en-US"/>
              <a:t>Click to edit Master title style</a:t>
            </a:r>
            <a:endParaRPr lang="en-IN"/>
          </a:p>
        </p:txBody>
      </p:sp>
      <p:sp>
        <p:nvSpPr>
          <p:cNvPr id="7" name="Date Placeholder 2"/>
          <p:cNvSpPr>
            <a:spLocks noGrp="1"/>
          </p:cNvSpPr>
          <p:nvPr>
            <p:ph type="dt" sz="half" idx="10"/>
          </p:nvPr>
        </p:nvSpPr>
        <p:spPr/>
        <p:txBody>
          <a:bodyPr/>
          <a:lstStyle>
            <a:lvl1pPr>
              <a:defRPr/>
            </a:lvl1pPr>
          </a:lstStyle>
          <a:p>
            <a:pPr>
              <a:defRPr/>
            </a:pPr>
            <a:fld id="{ED19E11A-79DE-4940-9DFA-C37A6240053D}" type="datetimeFigureOut">
              <a:rPr lang="en-US"/>
              <a:pPr>
                <a:defRPr/>
              </a:pPr>
              <a:t>3/31/2024</a:t>
            </a:fld>
            <a:endParaRPr lang="en-US" dirty="0"/>
          </a:p>
        </p:txBody>
      </p:sp>
      <p:sp>
        <p:nvSpPr>
          <p:cNvPr id="8" name="Footer Placeholder 3"/>
          <p:cNvSpPr>
            <a:spLocks noGrp="1"/>
          </p:cNvSpPr>
          <p:nvPr>
            <p:ph type="ftr" sz="quarter" idx="11"/>
          </p:nvPr>
        </p:nvSpPr>
        <p:spPr/>
        <p:txBody>
          <a:bodyPr/>
          <a:lstStyle>
            <a:lvl1pPr>
              <a:defRPr/>
            </a:lvl1pPr>
          </a:lstStyle>
          <a:p>
            <a:pPr>
              <a:defRPr/>
            </a:pPr>
            <a:endParaRPr lang="en-US" dirty="0"/>
          </a:p>
        </p:txBody>
      </p:sp>
      <p:sp>
        <p:nvSpPr>
          <p:cNvPr id="9" name="Slide Number Placeholder 4"/>
          <p:cNvSpPr>
            <a:spLocks noGrp="1"/>
          </p:cNvSpPr>
          <p:nvPr>
            <p:ph type="sldNum" sz="quarter" idx="12"/>
          </p:nvPr>
        </p:nvSpPr>
        <p:spPr/>
        <p:txBody>
          <a:bodyPr/>
          <a:lstStyle>
            <a:lvl1pPr>
              <a:defRPr/>
            </a:lvl1pPr>
          </a:lstStyle>
          <a:p>
            <a:pPr>
              <a:defRPr/>
            </a:pPr>
            <a:fld id="{066C6C9F-24CB-4D60-9AB2-7E32E2EB35ED}"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0CCA3BF-085F-4A8E-B4AB-B47F0D581EBC}" type="datetimeFigureOut">
              <a:rPr lang="en-US"/>
              <a:pPr>
                <a:defRPr/>
              </a:pPr>
              <a:t>3/31/2024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A3087BAB-5163-412C-B9B5-0EDC443F8450}"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6E9445F-2F5E-4E9D-9BD1-34DE9B06D3CD}" type="datetimeFigureOut">
              <a:rPr lang="en-US"/>
              <a:pPr>
                <a:defRPr/>
              </a:pPr>
              <a:t>3/31/2024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DE91FED-610B-490A-A066-4CC79F497F2C}"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IN"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77FA26C-E7A6-4858-8F06-E16C3A8B864F}" type="datetimeFigureOut">
              <a:rPr lang="en-US"/>
              <a:pPr>
                <a:defRPr/>
              </a:pPr>
              <a:t>3/31/2024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8539A58-CBF9-4BCF-8770-2C84BA511F04}"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A9732F9E-4819-4205-96B1-F549C2F79A12}" type="datetimeFigureOut">
              <a:rPr lang="en-US"/>
              <a:pPr>
                <a:defRPr/>
              </a:pPr>
              <a:t>3/31/2024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39BEE15-89D9-4C78-B0A4-8CCB144C75F0}"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EEF33ADF-FD4A-430C-A9CF-A03CCEF31B8E}" type="datetimeFigureOut">
              <a:rPr lang="en-US"/>
              <a:pPr>
                <a:defRPr/>
              </a:pPr>
              <a:t>3/31/2024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5195806-B69B-4447-8791-489A5AF9E679}"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IN"/>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1B5B4C3-8287-4BAC-9F5C-ADD6219A4F41}" type="datetimeFigureOut">
              <a:rPr lang="en-US"/>
              <a:pPr>
                <a:defRPr/>
              </a:pPr>
              <a:t>3/31/2024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33E6E13-C493-4EEA-AFB0-FEFFBE71007A}"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15" r:id="rId1"/>
    <p:sldLayoutId id="2147483716" r:id="rId2"/>
    <p:sldLayoutId id="2147483709" r:id="rId3"/>
    <p:sldLayoutId id="2147483717" r:id="rId4"/>
    <p:sldLayoutId id="2147483718" r:id="rId5"/>
    <p:sldLayoutId id="2147483719" r:id="rId6"/>
    <p:sldLayoutId id="2147483710" r:id="rId7"/>
    <p:sldLayoutId id="2147483711" r:id="rId8"/>
    <p:sldLayoutId id="2147483712" r:id="rId9"/>
    <p:sldLayoutId id="2147483713" r:id="rId10"/>
    <p:sldLayoutId id="2147483714"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8090" y="1143000"/>
            <a:ext cx="7772400" cy="1524000"/>
          </a:xfrm>
        </p:spPr>
        <p:txBody>
          <a:bodyPr>
            <a:noAutofit/>
          </a:bodyPr>
          <a:lstStyle/>
          <a:p>
            <a:pPr algn="just"/>
            <a:r>
              <a:rPr lang="en-US" sz="2400" b="1" dirty="0">
                <a:effectLst/>
                <a:latin typeface="Bookman Old Style" panose="02050604050505020204" pitchFamily="18" charset="0"/>
                <a:ea typeface="Times New Roman" panose="02020603050405020304" pitchFamily="18" charset="0"/>
                <a:cs typeface="Times New Roman" panose="02020603050405020304" pitchFamily="18" charset="0"/>
              </a:rPr>
              <a:t>A systematics implementation of AI- Enhanced Central Library system with Chatbot. </a:t>
            </a:r>
            <a:endParaRPr lang="en-IN" sz="2400" b="1" dirty="0">
              <a:latin typeface="Bookman Old Style" panose="02050604050505020204" pitchFamily="18" charset="0"/>
              <a:cs typeface="Times New Roman" panose="02020603050405020304" pitchFamily="18" charset="0"/>
            </a:endParaRPr>
          </a:p>
        </p:txBody>
      </p:sp>
      <p:sp>
        <p:nvSpPr>
          <p:cNvPr id="3" name="Subtitle 2"/>
          <p:cNvSpPr>
            <a:spLocks noGrp="1"/>
          </p:cNvSpPr>
          <p:nvPr>
            <p:ph type="subTitle" idx="1"/>
          </p:nvPr>
        </p:nvSpPr>
        <p:spPr>
          <a:xfrm>
            <a:off x="685800" y="2971800"/>
            <a:ext cx="8229576" cy="3129385"/>
          </a:xfrm>
        </p:spPr>
        <p:txBody>
          <a:bodyPr>
            <a:normAutofit/>
          </a:bodyPr>
          <a:lstStyle/>
          <a:p>
            <a:pPr algn="r"/>
            <a:r>
              <a:rPr lang="en-US" b="1" dirty="0">
                <a:solidFill>
                  <a:srgbClr val="FF0000"/>
                </a:solidFill>
                <a:latin typeface="Times New Roman" panose="02020603050405020304" pitchFamily="18" charset="0"/>
                <a:cs typeface="Times New Roman" panose="02020603050405020304" pitchFamily="18" charset="0"/>
              </a:rPr>
              <a:t>Presented by :</a:t>
            </a:r>
            <a:endParaRPr lang="en-US" b="1" dirty="0">
              <a:solidFill>
                <a:schemeClr val="tx1"/>
              </a:solidFill>
              <a:latin typeface="Times New Roman" panose="02020603050405020304" pitchFamily="18" charset="0"/>
              <a:cs typeface="Times New Roman" panose="02020603050405020304" pitchFamily="18" charset="0"/>
            </a:endParaRPr>
          </a:p>
          <a:p>
            <a:pPr algn="r"/>
            <a:r>
              <a:rPr lang="en-US" sz="2200" b="1" dirty="0">
                <a:solidFill>
                  <a:schemeClr val="tx1"/>
                </a:solidFill>
                <a:latin typeface="Times New Roman" panose="02020603050405020304" pitchFamily="18" charset="0"/>
                <a:cs typeface="Times New Roman" panose="02020603050405020304" pitchFamily="18" charset="0"/>
              </a:rPr>
              <a:t>Shlok Thete</a:t>
            </a:r>
          </a:p>
          <a:p>
            <a:pPr algn="r"/>
            <a:r>
              <a:rPr lang="en-US" sz="2200" b="1" dirty="0">
                <a:latin typeface="Times New Roman" panose="02020603050405020304" pitchFamily="18" charset="0"/>
                <a:cs typeface="Times New Roman" panose="02020603050405020304" pitchFamily="18" charset="0"/>
              </a:rPr>
              <a:t>		T.E. CSE(AIML)</a:t>
            </a:r>
            <a:endParaRPr lang="en-US" sz="2200" b="1" dirty="0">
              <a:solidFill>
                <a:schemeClr val="tx1"/>
              </a:solidFill>
              <a:latin typeface="Times New Roman" panose="02020603050405020304" pitchFamily="18" charset="0"/>
              <a:cs typeface="Times New Roman" panose="02020603050405020304" pitchFamily="18" charset="0"/>
            </a:endParaRPr>
          </a:p>
          <a:p>
            <a:pPr algn="r"/>
            <a:r>
              <a:rPr lang="en-US" b="1" dirty="0">
                <a:solidFill>
                  <a:schemeClr val="tx1"/>
                </a:solidFill>
                <a:latin typeface="Times New Roman" panose="02020603050405020304" pitchFamily="18" charset="0"/>
                <a:cs typeface="Times New Roman" panose="02020603050405020304" pitchFamily="18" charset="0"/>
              </a:rPr>
              <a:t>		      	</a:t>
            </a:r>
            <a:r>
              <a:rPr lang="en-US" sz="1400" b="1" dirty="0">
                <a:solidFill>
                  <a:schemeClr val="tx1"/>
                </a:solidFill>
                <a:latin typeface="Times New Roman" panose="02020603050405020304" pitchFamily="18" charset="0"/>
                <a:cs typeface="Times New Roman" panose="02020603050405020304" pitchFamily="18" charset="0"/>
              </a:rPr>
              <a:t>PIN: Semester-V</a:t>
            </a:r>
          </a:p>
          <a:p>
            <a:pPr algn="r"/>
            <a:r>
              <a:rPr lang="en-US" b="1" dirty="0">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Guided By :</a:t>
            </a:r>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Bookman Old Style" panose="02050604050505020204" pitchFamily="18" charset="0"/>
                <a:cs typeface="Times New Roman" panose="02020603050405020304" pitchFamily="18" charset="0"/>
              </a:rPr>
              <a:t>CONTENTS</a:t>
            </a:r>
            <a:endParaRPr lang="en-IN" sz="3600" b="1" dirty="0">
              <a:latin typeface="Bookman Old Style" panose="02050604050505020204" pitchFamily="18" charset="0"/>
              <a:cs typeface="Times New Roman" panose="02020603050405020304" pitchFamily="18" charset="0"/>
            </a:endParaRPr>
          </a:p>
        </p:txBody>
      </p:sp>
      <p:sp>
        <p:nvSpPr>
          <p:cNvPr id="3" name="Content Placeholder 2"/>
          <p:cNvSpPr>
            <a:spLocks noGrp="1"/>
          </p:cNvSpPr>
          <p:nvPr>
            <p:ph idx="1"/>
          </p:nvPr>
        </p:nvSpPr>
        <p:spPr>
          <a:xfrm>
            <a:off x="533400" y="1265237"/>
            <a:ext cx="8229600" cy="4830763"/>
          </a:xfrm>
        </p:spPr>
        <p:txBody>
          <a:bodyPr>
            <a:noAutofit/>
          </a:bodyPr>
          <a:lstStyle/>
          <a:p>
            <a:r>
              <a:rPr lang="en-IN" sz="2000" dirty="0">
                <a:solidFill>
                  <a:schemeClr val="tx1"/>
                </a:solidFill>
                <a:latin typeface="Times New Roman" panose="02020603050405020304" pitchFamily="18" charset="0"/>
                <a:cs typeface="Times New Roman" panose="02020603050405020304" pitchFamily="18" charset="0"/>
              </a:rPr>
              <a:t>Aim</a:t>
            </a:r>
          </a:p>
          <a:p>
            <a:r>
              <a:rPr lang="en-IN" sz="2000" dirty="0">
                <a:solidFill>
                  <a:schemeClr val="tx1"/>
                </a:solidFill>
                <a:latin typeface="Times New Roman" panose="02020603050405020304" pitchFamily="18" charset="0"/>
                <a:cs typeface="Times New Roman" panose="02020603050405020304" pitchFamily="18" charset="0"/>
              </a:rPr>
              <a:t>Abstract</a:t>
            </a:r>
          </a:p>
          <a:p>
            <a:r>
              <a:rPr lang="en-IN" sz="2000" dirty="0">
                <a:solidFill>
                  <a:schemeClr val="tx1"/>
                </a:solidFill>
                <a:latin typeface="Times New Roman" panose="02020603050405020304" pitchFamily="18" charset="0"/>
                <a:cs typeface="Times New Roman" panose="02020603050405020304" pitchFamily="18" charset="0"/>
              </a:rPr>
              <a:t>Introduction</a:t>
            </a:r>
          </a:p>
          <a:p>
            <a:r>
              <a:rPr lang="en-IN" sz="2000" dirty="0">
                <a:solidFill>
                  <a:schemeClr val="tx1"/>
                </a:solidFill>
                <a:latin typeface="Times New Roman" panose="02020603050405020304" pitchFamily="18" charset="0"/>
                <a:cs typeface="Times New Roman" panose="02020603050405020304" pitchFamily="18" charset="0"/>
              </a:rPr>
              <a:t>Problem definition</a:t>
            </a:r>
          </a:p>
          <a:p>
            <a:r>
              <a:rPr lang="en-IN" sz="2000" dirty="0">
                <a:solidFill>
                  <a:schemeClr val="tx1"/>
                </a:solidFill>
                <a:latin typeface="Times New Roman" panose="02020603050405020304" pitchFamily="18" charset="0"/>
                <a:cs typeface="Times New Roman" panose="02020603050405020304" pitchFamily="18" charset="0"/>
              </a:rPr>
              <a:t>Problem Solution</a:t>
            </a:r>
          </a:p>
          <a:p>
            <a:r>
              <a:rPr lang="en-IN" sz="2000" dirty="0">
                <a:solidFill>
                  <a:schemeClr val="tx1"/>
                </a:solidFill>
                <a:latin typeface="Times New Roman" panose="02020603050405020304" pitchFamily="18" charset="0"/>
                <a:cs typeface="Times New Roman" panose="02020603050405020304" pitchFamily="18" charset="0"/>
              </a:rPr>
              <a:t>Future scope</a:t>
            </a:r>
          </a:p>
          <a:p>
            <a:r>
              <a:rPr lang="en-IN" sz="2000" dirty="0">
                <a:solidFill>
                  <a:schemeClr val="tx1"/>
                </a:solidFill>
                <a:latin typeface="Times New Roman" panose="02020603050405020304" pitchFamily="18" charset="0"/>
                <a:cs typeface="Times New Roman" panose="02020603050405020304" pitchFamily="18" charset="0"/>
              </a:rPr>
              <a:t>Hardware and software requirements</a:t>
            </a:r>
          </a:p>
          <a:p>
            <a:r>
              <a:rPr lang="en-IN" sz="2000" dirty="0">
                <a:solidFill>
                  <a:schemeClr val="tx1"/>
                </a:solidFill>
                <a:latin typeface="Times New Roman" panose="02020603050405020304" pitchFamily="18" charset="0"/>
                <a:cs typeface="Times New Roman" panose="02020603050405020304" pitchFamily="18" charset="0"/>
              </a:rPr>
              <a:t>System architecture</a:t>
            </a:r>
          </a:p>
          <a:p>
            <a:r>
              <a:rPr lang="en-IN" sz="2000" dirty="0">
                <a:solidFill>
                  <a:schemeClr val="tx1"/>
                </a:solidFill>
                <a:latin typeface="Times New Roman" panose="02020603050405020304" pitchFamily="18" charset="0"/>
                <a:cs typeface="Times New Roman" panose="02020603050405020304" pitchFamily="18" charset="0"/>
              </a:rPr>
              <a:t>Project Method</a:t>
            </a:r>
          </a:p>
          <a:p>
            <a:r>
              <a:rPr lang="en-IN" sz="2000" dirty="0">
                <a:solidFill>
                  <a:schemeClr val="tx1"/>
                </a:solidFill>
                <a:latin typeface="Times New Roman" panose="02020603050405020304" pitchFamily="18" charset="0"/>
                <a:cs typeface="Times New Roman" panose="02020603050405020304" pitchFamily="18" charset="0"/>
              </a:rPr>
              <a:t>Features </a:t>
            </a:r>
          </a:p>
          <a:p>
            <a:r>
              <a:rPr lang="en-IN" sz="2000" dirty="0">
                <a:solidFill>
                  <a:schemeClr val="tx1"/>
                </a:solidFill>
                <a:latin typeface="Times New Roman" panose="02020603050405020304" pitchFamily="18" charset="0"/>
                <a:cs typeface="Times New Roman" panose="02020603050405020304" pitchFamily="18" charset="0"/>
              </a:rPr>
              <a:t>Advantages</a:t>
            </a:r>
          </a:p>
          <a:p>
            <a:r>
              <a:rPr lang="en-IN" sz="2000" dirty="0">
                <a:solidFill>
                  <a:schemeClr val="tx1"/>
                </a:solidFill>
                <a:latin typeface="Times New Roman" panose="02020603050405020304" pitchFamily="18" charset="0"/>
                <a:cs typeface="Times New Roman" panose="02020603050405020304" pitchFamily="18" charset="0"/>
              </a:rPr>
              <a:t>Conclusion</a:t>
            </a:r>
          </a:p>
          <a:p>
            <a:r>
              <a:rPr lang="en-IN" sz="2000" dirty="0">
                <a:solidFill>
                  <a:schemeClr val="tx1"/>
                </a:solidFill>
                <a:latin typeface="Times New Roman" panose="02020603050405020304" pitchFamily="18" charset="0"/>
                <a:cs typeface="Times New Roman" panose="02020603050405020304" pitchFamily="18" charset="0"/>
              </a:rPr>
              <a:t>References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997" y="388937"/>
            <a:ext cx="8349803" cy="579437"/>
          </a:xfrm>
        </p:spPr>
        <p:txBody>
          <a:bodyPr/>
          <a:lstStyle/>
          <a:p>
            <a:pPr>
              <a:lnSpc>
                <a:spcPct val="150000"/>
              </a:lnSpc>
            </a:pPr>
            <a:r>
              <a:rPr lang="en-US" sz="4000" b="1" dirty="0">
                <a:latin typeface="Bookman Old Style" panose="02050604050505020204" pitchFamily="18" charset="0"/>
                <a:cs typeface="Times New Roman" panose="02020603050405020304" pitchFamily="18" charset="0"/>
              </a:rPr>
              <a:t>AIM</a:t>
            </a:r>
          </a:p>
        </p:txBody>
      </p:sp>
      <p:sp>
        <p:nvSpPr>
          <p:cNvPr id="3" name="Content Placeholder 2"/>
          <p:cNvSpPr>
            <a:spLocks noGrp="1"/>
          </p:cNvSpPr>
          <p:nvPr>
            <p:ph idx="1"/>
          </p:nvPr>
        </p:nvSpPr>
        <p:spPr>
          <a:xfrm>
            <a:off x="457200" y="1371600"/>
            <a:ext cx="8229600" cy="4525963"/>
          </a:xfrm>
        </p:spPr>
        <p:txBody>
          <a:bodyPr/>
          <a:lstStyle/>
          <a:p>
            <a:pPr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To develop Digital Library System.</a:t>
            </a:r>
          </a:p>
          <a:p>
            <a:pPr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To create an efficient and user-friendly online Digital Library </a:t>
            </a:r>
            <a:r>
              <a:rPr lang="en-US" sz="2000" dirty="0" err="1">
                <a:solidFill>
                  <a:schemeClr val="tx1"/>
                </a:solidFill>
                <a:latin typeface="Times New Roman" panose="02020603050405020304" pitchFamily="18" charset="0"/>
                <a:cs typeface="Times New Roman" panose="02020603050405020304" pitchFamily="18" charset="0"/>
              </a:rPr>
              <a:t>Systemthat</a:t>
            </a:r>
            <a:r>
              <a:rPr lang="en-US" sz="2000" dirty="0">
                <a:solidFill>
                  <a:schemeClr val="tx1"/>
                </a:solidFill>
                <a:latin typeface="Times New Roman" panose="02020603050405020304" pitchFamily="18" charset="0"/>
                <a:cs typeface="Times New Roman" panose="02020603050405020304" pitchFamily="18" charset="0"/>
              </a:rPr>
              <a:t> streamlines library operations, enhances accessibility to digital and physical resources, facilitates seamless borrowing and returning of materials, and provides valuable data insights for informed decision-making, ultimately improving the overall library experience for both staff and patrons.</a:t>
            </a:r>
          </a:p>
        </p:txBody>
      </p:sp>
    </p:spTree>
    <p:extLst>
      <p:ext uri="{BB962C8B-B14F-4D97-AF65-F5344CB8AC3E}">
        <p14:creationId xmlns:p14="http://schemas.microsoft.com/office/powerpoint/2010/main" val="84861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IN" sz="3600" b="1" dirty="0">
                <a:latin typeface="Bookman Old Style" pitchFamily="18" charset="0"/>
              </a:rPr>
              <a:t>ABSTRACT</a:t>
            </a:r>
          </a:p>
        </p:txBody>
      </p:sp>
      <p:sp>
        <p:nvSpPr>
          <p:cNvPr id="4" name="TextBox 3">
            <a:extLst>
              <a:ext uri="{FF2B5EF4-FFF2-40B4-BE49-F238E27FC236}">
                <a16:creationId xmlns:a16="http://schemas.microsoft.com/office/drawing/2014/main" id="{67D458ED-4CBB-7910-8D2F-B0A964BC64F5}"/>
              </a:ext>
            </a:extLst>
          </p:cNvPr>
          <p:cNvSpPr txBox="1"/>
          <p:nvPr/>
        </p:nvSpPr>
        <p:spPr>
          <a:xfrm>
            <a:off x="533400" y="1305341"/>
            <a:ext cx="8153400" cy="4480073"/>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Digital Library System is a project which aims in developing a computerized system to maintain all the daily work of library .This project has many features which are generally not available in normal library management systems like facility of user login and a facility of admin login. It also has a facility of admin login through which the admin can monitor the whole system. It has also a facility where student after logging in their accounts can see list of books issued and its issue date and return date. Traditional Libraries can be turned into digital libraries using the Digital Library System(LMS). LMS allows a user to maintain a library efficiently and keep records of the books and customers accurately. The biggest advantage of LMS is it saves time and money and needs less human interaction. The purpose of the thesis is to develop a LMS system, which can perform basic tasks of a library. Overall this project of ours is being developed to help the students as well as staff of library to maintain the library in the best way possible and also reduce the human efforts.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304800"/>
            <a:ext cx="8305800" cy="762000"/>
          </a:xfrm>
        </p:spPr>
        <p:txBody>
          <a:bodyPr/>
          <a:lstStyle/>
          <a:p>
            <a:pPr>
              <a:lnSpc>
                <a:spcPct val="150000"/>
              </a:lnSpc>
            </a:pPr>
            <a:r>
              <a:rPr lang="en-US" sz="3600" b="1" dirty="0">
                <a:latin typeface="Bookman Old Style" pitchFamily="18" charset="0"/>
              </a:rPr>
              <a:t>INTRODUCTION</a:t>
            </a:r>
          </a:p>
        </p:txBody>
      </p:sp>
      <p:sp>
        <p:nvSpPr>
          <p:cNvPr id="3" name="Content Placeholder 2"/>
          <p:cNvSpPr>
            <a:spLocks noGrp="1"/>
          </p:cNvSpPr>
          <p:nvPr>
            <p:ph idx="1"/>
          </p:nvPr>
        </p:nvSpPr>
        <p:spPr>
          <a:xfrm>
            <a:off x="457200" y="1371600"/>
            <a:ext cx="8382000" cy="4724400"/>
          </a:xfrm>
        </p:spPr>
        <p:txBody>
          <a:bodyPr/>
          <a:lstStyle/>
          <a:p>
            <a:pPr marL="0" indent="0" algn="just">
              <a:lnSpc>
                <a:spcPct val="150000"/>
              </a:lnSpc>
              <a:buClr>
                <a:schemeClr val="accent6"/>
              </a:buClr>
              <a:buNone/>
            </a:pPr>
            <a:r>
              <a:rPr lang="en-US" sz="1600" b="0" i="0" dirty="0">
                <a:solidFill>
                  <a:schemeClr val="tx1"/>
                </a:solidFill>
                <a:effectLst/>
                <a:latin typeface="Times New Roman" panose="02020603050405020304" pitchFamily="18" charset="0"/>
                <a:cs typeface="Times New Roman" panose="02020603050405020304" pitchFamily="18" charset="0"/>
              </a:rPr>
              <a:t>Digital Library System is a web based application. Digital Library </a:t>
            </a:r>
            <a:r>
              <a:rPr lang="en-US" sz="1600" b="0" i="0" dirty="0" err="1">
                <a:solidFill>
                  <a:schemeClr val="tx1"/>
                </a:solidFill>
                <a:effectLst/>
                <a:latin typeface="Times New Roman" panose="02020603050405020304" pitchFamily="18" charset="0"/>
                <a:cs typeface="Times New Roman" panose="02020603050405020304" pitchFamily="18" charset="0"/>
              </a:rPr>
              <a:t>Systemis</a:t>
            </a:r>
            <a:r>
              <a:rPr lang="en-US" sz="1600" b="0" i="0" dirty="0">
                <a:solidFill>
                  <a:schemeClr val="tx1"/>
                </a:solidFill>
                <a:effectLst/>
                <a:latin typeface="Times New Roman" panose="02020603050405020304" pitchFamily="18" charset="0"/>
                <a:cs typeface="Times New Roman" panose="02020603050405020304" pitchFamily="18" charset="0"/>
              </a:rPr>
              <a:t> a project which aims in developing a computerized system to maintain all the daily work of library. This project has many features which are generally not available in normal library management systems like facility of user login and a facility of admin login. It also has a facility of admin login through which the admin can monitor the whole system. It has also a facility where student after logging in their accounts can see list of books issued and its issue date and return date.</a:t>
            </a:r>
            <a:r>
              <a:rPr lang="en-US" sz="1600" dirty="0">
                <a:solidFill>
                  <a:schemeClr val="tx1"/>
                </a:solidFill>
                <a:latin typeface="Times New Roman" panose="02020603050405020304" pitchFamily="18" charset="0"/>
                <a:cs typeface="Times New Roman" panose="02020603050405020304" pitchFamily="18" charset="0"/>
              </a:rPr>
              <a:t> The main purpose of the project is to is to build an online LMS system by using different software methodologies. The author designed the LMS with the basic and necessary features like the admin/librarian can add/delete book, can add/delete author, can issue books, can manage books and users, and users/students can search and borrow books. For Frontend part of the project the author used HTML, CSS, JavaScript and Bootstrap framework and for the Backend part the author used PHP and MySQL database.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lstStyle/>
          <a:p>
            <a:r>
              <a:rPr lang="en-US" sz="3600" b="1" dirty="0">
                <a:latin typeface="Bookman Old Style" panose="02050604050505020204" pitchFamily="18" charset="0"/>
                <a:cs typeface="Times New Roman" panose="02020603050405020304" pitchFamily="18" charset="0"/>
              </a:rPr>
              <a:t>PROBLEM DEFINITION</a:t>
            </a:r>
          </a:p>
        </p:txBody>
      </p:sp>
      <p:sp>
        <p:nvSpPr>
          <p:cNvPr id="3" name="Content Placeholder 2"/>
          <p:cNvSpPr>
            <a:spLocks noGrp="1"/>
          </p:cNvSpPr>
          <p:nvPr>
            <p:ph idx="1"/>
          </p:nvPr>
        </p:nvSpPr>
        <p:spPr>
          <a:xfrm>
            <a:off x="457200" y="1371600"/>
            <a:ext cx="8305800" cy="4876800"/>
          </a:xfrm>
        </p:spPr>
        <p:txBody>
          <a:bodyPr/>
          <a:lstStyle/>
          <a:p>
            <a:pPr marR="0" algn="just">
              <a:spcBef>
                <a:spcPts val="600"/>
              </a:spcBef>
              <a:spcAft>
                <a:spcPts val="600"/>
              </a:spcAf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File lost When computerized system is not implemented file is always lost because of human environment. Some times due to some human error there may be a loss of records. </a:t>
            </a:r>
          </a:p>
          <a:p>
            <a:pPr marR="0" algn="just">
              <a:spcBef>
                <a:spcPts val="600"/>
              </a:spcBef>
              <a:spcAft>
                <a:spcPts val="600"/>
              </a:spcAf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File damaged When a computerized system is not there file is always lost due to some accident like spilling of water by some member on file accidentally. Besides some natural disaster like floods or fires may also damage the files. </a:t>
            </a:r>
          </a:p>
          <a:p>
            <a:pPr marR="0" algn="just">
              <a:spcBef>
                <a:spcPts val="600"/>
              </a:spcBef>
              <a:spcAft>
                <a:spcPts val="600"/>
              </a:spcAf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Difficult to search record When there is no computerized system there is always a difficulty in searching of records if the records are large in number . </a:t>
            </a:r>
          </a:p>
          <a:p>
            <a:pPr marR="0" algn="just">
              <a:spcBef>
                <a:spcPts val="600"/>
              </a:spcBef>
              <a:spcAft>
                <a:spcPts val="600"/>
              </a:spcAf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Space consuming After the number of records become large the space for physical storage of file and records also increases if no computerized system is implemented. </a:t>
            </a:r>
          </a:p>
          <a:p>
            <a:pPr marR="0" algn="just">
              <a:spcBef>
                <a:spcPts val="600"/>
              </a:spcBef>
              <a:spcAft>
                <a:spcPts val="600"/>
              </a:spcAf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Cost consuming As there is no computerized system the to add each record paper will be needed which will increase the cost for the management of library. </a:t>
            </a:r>
          </a:p>
        </p:txBody>
      </p:sp>
    </p:spTree>
    <p:extLst>
      <p:ext uri="{BB962C8B-B14F-4D97-AF65-F5344CB8AC3E}">
        <p14:creationId xmlns:p14="http://schemas.microsoft.com/office/powerpoint/2010/main" val="3069542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lstStyle/>
          <a:p>
            <a:r>
              <a:rPr lang="en-US" sz="3600" b="1" dirty="0">
                <a:latin typeface="Bookman Old Style" panose="02050604050505020204" pitchFamily="18" charset="0"/>
                <a:cs typeface="Times New Roman" panose="02020603050405020304" pitchFamily="18" charset="0"/>
              </a:rPr>
              <a:t>PROBLEM SOLUTION</a:t>
            </a:r>
          </a:p>
        </p:txBody>
      </p:sp>
      <p:sp>
        <p:nvSpPr>
          <p:cNvPr id="3" name="Content Placeholder 2"/>
          <p:cNvSpPr>
            <a:spLocks noGrp="1"/>
          </p:cNvSpPr>
          <p:nvPr>
            <p:ph idx="1"/>
          </p:nvPr>
        </p:nvSpPr>
        <p:spPr/>
        <p:txBody>
          <a:bodyPr/>
          <a:lstStyle/>
          <a:p>
            <a:pPr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Improvement in control and performance The system is developed to cope up with the current issues and problems of library .The system can add user, validate user and is also bug free.</a:t>
            </a:r>
          </a:p>
          <a:p>
            <a:pPr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Save cost After computerized system is implemented less human force will be required to maintain the library thus reducing the overall cost.</a:t>
            </a:r>
          </a:p>
          <a:p>
            <a:pPr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Save time Librarian is able to search record by using few clicks of mouse and few search keywords thus saving his valuable time.</a:t>
            </a:r>
          </a:p>
        </p:txBody>
      </p:sp>
    </p:spTree>
    <p:extLst>
      <p:ext uri="{BB962C8B-B14F-4D97-AF65-F5344CB8AC3E}">
        <p14:creationId xmlns:p14="http://schemas.microsoft.com/office/powerpoint/2010/main" val="3069096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382000" cy="731837"/>
          </a:xfrm>
        </p:spPr>
        <p:txBody>
          <a:bodyPr/>
          <a:lstStyle/>
          <a:p>
            <a:pPr>
              <a:lnSpc>
                <a:spcPct val="150000"/>
              </a:lnSpc>
            </a:pPr>
            <a:r>
              <a:rPr lang="en-IN" sz="4000" b="1" dirty="0">
                <a:latin typeface="Bookman Old Style" panose="02050604050505020204" pitchFamily="18" charset="0"/>
                <a:cs typeface="Times New Roman" panose="02020603050405020304" pitchFamily="18" charset="0"/>
              </a:rPr>
              <a:t>FUTURE SCOPE </a:t>
            </a:r>
          </a:p>
        </p:txBody>
      </p:sp>
      <p:sp>
        <p:nvSpPr>
          <p:cNvPr id="5" name="Content Placeholder 4"/>
          <p:cNvSpPr>
            <a:spLocks noGrp="1"/>
          </p:cNvSpPr>
          <p:nvPr>
            <p:ph idx="1"/>
          </p:nvPr>
        </p:nvSpPr>
        <p:spPr>
          <a:xfrm>
            <a:off x="457200" y="1295400"/>
            <a:ext cx="8382000" cy="4525963"/>
          </a:xfrm>
        </p:spPr>
        <p:txBody>
          <a:bodyPr/>
          <a:lstStyle/>
          <a:p>
            <a:pPr marL="0" marR="3810" algn="just">
              <a:lnSpc>
                <a:spcPct val="15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This website provides a computerized version of Digital Library System which will benefit the students as well as the staff of the library. </a:t>
            </a:r>
          </a:p>
          <a:p>
            <a:pPr marL="0" marR="3810" algn="just">
              <a:lnSpc>
                <a:spcPct val="15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It makes entire process online where student can search books, staff can generate reports and do book transactions. It also has a facility for student login where student can login and can see status of books issued.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680" y="304800"/>
            <a:ext cx="8321040" cy="796908"/>
          </a:xfrm>
        </p:spPr>
        <p:txBody>
          <a:bodyPr/>
          <a:lstStyle/>
          <a:p>
            <a:pPr>
              <a:lnSpc>
                <a:spcPct val="150000"/>
              </a:lnSpc>
            </a:pPr>
            <a:r>
              <a:rPr lang="en-IN" sz="3600" b="1" dirty="0">
                <a:latin typeface="Bookman Old Style" pitchFamily="18" charset="0"/>
              </a:rPr>
              <a:t>HARDWARE REQUIREMENT</a:t>
            </a:r>
          </a:p>
        </p:txBody>
      </p:sp>
      <p:sp>
        <p:nvSpPr>
          <p:cNvPr id="4" name="Content Placeholder 2"/>
          <p:cNvSpPr>
            <a:spLocks noGrp="1"/>
          </p:cNvSpPr>
          <p:nvPr>
            <p:ph idx="1"/>
          </p:nvPr>
        </p:nvSpPr>
        <p:spPr>
          <a:xfrm>
            <a:off x="457200" y="1295400"/>
            <a:ext cx="8382000" cy="4572000"/>
          </a:xfrm>
        </p:spPr>
        <p:txBody>
          <a:bodyPr>
            <a:normAutofit/>
          </a:bodyPr>
          <a:lstStyle/>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Processor		:  Pentium Processor </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Ram			:  2Gb</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Hard Disk		:  128Gb</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Input device		:  Standard Keyboard and Mouse.</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Output device		:  Laptop Display</a:t>
            </a:r>
          </a:p>
          <a:p>
            <a:pPr>
              <a:lnSpc>
                <a:spcPct val="150000"/>
              </a:lnSpc>
            </a:pPr>
            <a:endParaRPr lang="en-US"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pPr>
              <a:lnSpc>
                <a:spcPct val="150000"/>
              </a:lnSpc>
            </a:pPr>
            <a:r>
              <a:rPr lang="en-IN" sz="3600" b="1" dirty="0">
                <a:latin typeface="Bookman Old Style" pitchFamily="18" charset="0"/>
              </a:rPr>
              <a:t>SOFTWARE REQUIREMENTS</a:t>
            </a:r>
          </a:p>
        </p:txBody>
      </p:sp>
      <p:sp>
        <p:nvSpPr>
          <p:cNvPr id="5" name="Content Placeholder 2"/>
          <p:cNvSpPr>
            <a:spLocks noGrp="1"/>
          </p:cNvSpPr>
          <p:nvPr>
            <p:ph idx="1"/>
          </p:nvPr>
        </p:nvSpPr>
        <p:spPr>
          <a:xfrm>
            <a:off x="457200" y="1371600"/>
            <a:ext cx="8229600" cy="4724400"/>
          </a:xfrm>
        </p:spPr>
        <p:txBody>
          <a:bodyPr/>
          <a:lstStyle/>
          <a:p>
            <a:pPr algn="just">
              <a:lnSpc>
                <a:spcPct val="150000"/>
              </a:lnSpc>
            </a:pPr>
            <a:r>
              <a:rPr lang="en-US" sz="2000" dirty="0">
                <a:solidFill>
                  <a:schemeClr val="tx1"/>
                </a:solidFill>
                <a:latin typeface="Times New Roman" panose="02020603050405020304" pitchFamily="18" charset="0"/>
                <a:cs typeface="Times New Roman" panose="02020603050405020304" pitchFamily="18" charset="0"/>
              </a:rPr>
              <a:t>OS:- Windows, Linux, Android.</a:t>
            </a:r>
          </a:p>
          <a:p>
            <a:pPr algn="just">
              <a:lnSpc>
                <a:spcPct val="150000"/>
              </a:lnSpc>
            </a:pPr>
            <a:r>
              <a:rPr lang="en-US" sz="2000" dirty="0">
                <a:solidFill>
                  <a:schemeClr val="tx1"/>
                </a:solidFill>
                <a:latin typeface="Times New Roman" panose="02020603050405020304" pitchFamily="18" charset="0"/>
                <a:cs typeface="Times New Roman" panose="02020603050405020304" pitchFamily="18" charset="0"/>
              </a:rPr>
              <a:t>High speed internet.</a:t>
            </a:r>
          </a:p>
          <a:p>
            <a:pPr algn="just">
              <a:lnSpc>
                <a:spcPct val="150000"/>
              </a:lnSpc>
            </a:pPr>
            <a:r>
              <a:rPr lang="en-US" sz="2000" dirty="0">
                <a:solidFill>
                  <a:schemeClr val="tx1"/>
                </a:solidFill>
                <a:latin typeface="Times New Roman" panose="02020603050405020304" pitchFamily="18" charset="0"/>
                <a:cs typeface="Times New Roman" panose="02020603050405020304" pitchFamily="18" charset="0"/>
              </a:rPr>
              <a:t>Browser.</a:t>
            </a:r>
          </a:p>
          <a:p>
            <a:pPr algn="just">
              <a:lnSpc>
                <a:spcPct val="150000"/>
              </a:lnSpc>
            </a:pPr>
            <a:endParaRPr lang="en-US"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503349" y="228600"/>
            <a:ext cx="8305800" cy="796908"/>
          </a:xfrm>
        </p:spPr>
        <p:txBody>
          <a:bodyPr/>
          <a:lstStyle/>
          <a:p>
            <a:pPr>
              <a:lnSpc>
                <a:spcPct val="150000"/>
              </a:lnSpc>
            </a:pPr>
            <a:r>
              <a:rPr lang="en-IN" sz="3600" b="1" dirty="0">
                <a:latin typeface="Bookman Old Style" pitchFamily="18" charset="0"/>
              </a:rPr>
              <a:t>SYSTEM ARCHITECTURE</a:t>
            </a:r>
          </a:p>
        </p:txBody>
      </p:sp>
      <p:pic>
        <p:nvPicPr>
          <p:cNvPr id="3" name="Picture 2">
            <a:extLst>
              <a:ext uri="{FF2B5EF4-FFF2-40B4-BE49-F238E27FC236}">
                <a16:creationId xmlns:a16="http://schemas.microsoft.com/office/drawing/2014/main" id="{31C17689-339D-B063-35C8-174F5A6712F9}"/>
              </a:ext>
            </a:extLst>
          </p:cNvPr>
          <p:cNvPicPr>
            <a:picLocks noChangeAspect="1"/>
          </p:cNvPicPr>
          <p:nvPr/>
        </p:nvPicPr>
        <p:blipFill>
          <a:blip r:embed="rId3"/>
          <a:stretch>
            <a:fillRect/>
          </a:stretch>
        </p:blipFill>
        <p:spPr>
          <a:xfrm>
            <a:off x="604234" y="1371600"/>
            <a:ext cx="8104031" cy="4648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688"/>
            <a:ext cx="8382000" cy="796908"/>
          </a:xfrm>
        </p:spPr>
        <p:txBody>
          <a:bodyPr/>
          <a:lstStyle/>
          <a:p>
            <a:r>
              <a:rPr lang="en-IN" sz="3600" b="1" dirty="0">
                <a:latin typeface="Bookman Old Style" pitchFamily="18" charset="0"/>
              </a:rPr>
              <a:t>PROJECT METHOD</a:t>
            </a:r>
            <a:endParaRPr lang="en-US" sz="3600" b="1" dirty="0"/>
          </a:p>
        </p:txBody>
      </p:sp>
      <p:sp>
        <p:nvSpPr>
          <p:cNvPr id="8" name="TextBox 7">
            <a:extLst>
              <a:ext uri="{FF2B5EF4-FFF2-40B4-BE49-F238E27FC236}">
                <a16:creationId xmlns:a16="http://schemas.microsoft.com/office/drawing/2014/main" id="{7E40FDC5-D4E5-BBC2-7115-757517EB940B}"/>
              </a:ext>
            </a:extLst>
          </p:cNvPr>
          <p:cNvSpPr txBox="1"/>
          <p:nvPr/>
        </p:nvSpPr>
        <p:spPr>
          <a:xfrm>
            <a:off x="609599" y="1296817"/>
            <a:ext cx="6248400" cy="400110"/>
          </a:xfrm>
          <a:prstGeom prst="rect">
            <a:avLst/>
          </a:prstGeom>
          <a:noFill/>
        </p:spPr>
        <p:txBody>
          <a:bodyPr wrap="square">
            <a:spAutoFit/>
          </a:bodyPr>
          <a:lstStyle/>
          <a:p>
            <a:r>
              <a:rPr lang="en-US" sz="2000" dirty="0">
                <a:effectLst/>
                <a:latin typeface="Times New Roman" panose="02020603050405020304" pitchFamily="18" charset="0"/>
                <a:ea typeface="Arial MT"/>
                <a:cs typeface="Times New Roman" panose="02020603050405020304" pitchFamily="18" charset="0"/>
              </a:rPr>
              <a:t>Admin</a:t>
            </a:r>
            <a:r>
              <a:rPr lang="en-US" sz="2000" spc="-5" dirty="0">
                <a:effectLst/>
                <a:latin typeface="Times New Roman" panose="02020603050405020304" pitchFamily="18" charset="0"/>
                <a:ea typeface="Arial MT"/>
                <a:cs typeface="Times New Roman" panose="02020603050405020304" pitchFamily="18" charset="0"/>
              </a:rPr>
              <a:t> </a:t>
            </a:r>
            <a:r>
              <a:rPr lang="en-US" sz="2000" dirty="0">
                <a:effectLst/>
                <a:latin typeface="Times New Roman" panose="02020603050405020304" pitchFamily="18" charset="0"/>
                <a:ea typeface="Arial MT"/>
                <a:cs typeface="Times New Roman" panose="02020603050405020304" pitchFamily="18" charset="0"/>
              </a:rPr>
              <a:t>activity</a:t>
            </a:r>
            <a:r>
              <a:rPr lang="en-US" sz="2000" spc="-15" dirty="0">
                <a:effectLst/>
                <a:latin typeface="Times New Roman" panose="02020603050405020304" pitchFamily="18" charset="0"/>
                <a:ea typeface="Arial MT"/>
                <a:cs typeface="Times New Roman" panose="02020603050405020304" pitchFamily="18" charset="0"/>
              </a:rPr>
              <a:t> </a:t>
            </a:r>
            <a:r>
              <a:rPr lang="en-US" sz="2000" dirty="0">
                <a:effectLst/>
                <a:latin typeface="Times New Roman" panose="02020603050405020304" pitchFamily="18" charset="0"/>
                <a:ea typeface="Arial MT"/>
                <a:cs typeface="Times New Roman" panose="02020603050405020304" pitchFamily="18" charset="0"/>
              </a:rPr>
              <a:t>diagram :- </a:t>
            </a:r>
            <a:endParaRPr lang="en-US" sz="2000" dirty="0">
              <a:latin typeface="Times New Roman" panose="02020603050405020304" pitchFamily="18" charset="0"/>
              <a:cs typeface="Times New Roman" panose="02020603050405020304" pitchFamily="18" charset="0"/>
            </a:endParaRPr>
          </a:p>
        </p:txBody>
      </p:sp>
      <p:pic>
        <p:nvPicPr>
          <p:cNvPr id="5" name="image6.jpeg" descr="Diagram  Description automatically generated">
            <a:extLst>
              <a:ext uri="{FF2B5EF4-FFF2-40B4-BE49-F238E27FC236}">
                <a16:creationId xmlns:a16="http://schemas.microsoft.com/office/drawing/2014/main" id="{45852D13-72DD-1776-EA40-CBA928EE8251}"/>
              </a:ext>
            </a:extLst>
          </p:cNvPr>
          <p:cNvPicPr>
            <a:picLocks noChangeAspect="1"/>
          </p:cNvPicPr>
          <p:nvPr/>
        </p:nvPicPr>
        <p:blipFill>
          <a:blip r:embed="rId2" cstate="print"/>
          <a:stretch>
            <a:fillRect/>
          </a:stretch>
        </p:blipFill>
        <p:spPr>
          <a:xfrm>
            <a:off x="2895600" y="1892148"/>
            <a:ext cx="3962399" cy="41276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54436-3306-818A-CCE2-19C4B40D7705}"/>
              </a:ext>
            </a:extLst>
          </p:cNvPr>
          <p:cNvSpPr>
            <a:spLocks noGrp="1"/>
          </p:cNvSpPr>
          <p:nvPr>
            <p:ph type="title"/>
          </p:nvPr>
        </p:nvSpPr>
        <p:spPr>
          <a:xfrm>
            <a:off x="533400" y="274638"/>
            <a:ext cx="8305800" cy="796908"/>
          </a:xfrm>
        </p:spPr>
        <p:txBody>
          <a:bodyPr/>
          <a:lstStyle/>
          <a:p>
            <a:r>
              <a:rPr lang="en-US" sz="3600" b="1" dirty="0">
                <a:latin typeface="Bookman Old Style" panose="02050604050505020204" pitchFamily="18" charset="0"/>
                <a:cs typeface="Times New Roman" panose="02020603050405020304" pitchFamily="18" charset="0"/>
              </a:rPr>
              <a:t>PROJECT METHOD</a:t>
            </a:r>
          </a:p>
        </p:txBody>
      </p:sp>
      <p:pic>
        <p:nvPicPr>
          <p:cNvPr id="3" name="image7.jpeg" descr="Diagram  Description automatically generated">
            <a:extLst>
              <a:ext uri="{FF2B5EF4-FFF2-40B4-BE49-F238E27FC236}">
                <a16:creationId xmlns:a16="http://schemas.microsoft.com/office/drawing/2014/main" id="{54E2F000-8CCF-C3E0-6326-0ADCD0ED904A}"/>
              </a:ext>
            </a:extLst>
          </p:cNvPr>
          <p:cNvPicPr>
            <a:picLocks noChangeAspect="1"/>
          </p:cNvPicPr>
          <p:nvPr/>
        </p:nvPicPr>
        <p:blipFill>
          <a:blip r:embed="rId2" cstate="print"/>
          <a:stretch>
            <a:fillRect/>
          </a:stretch>
        </p:blipFill>
        <p:spPr>
          <a:xfrm>
            <a:off x="2895600" y="1828800"/>
            <a:ext cx="3429000" cy="4114800"/>
          </a:xfrm>
          <a:prstGeom prst="rect">
            <a:avLst/>
          </a:prstGeom>
        </p:spPr>
      </p:pic>
      <p:sp>
        <p:nvSpPr>
          <p:cNvPr id="5" name="TextBox 4">
            <a:extLst>
              <a:ext uri="{FF2B5EF4-FFF2-40B4-BE49-F238E27FC236}">
                <a16:creationId xmlns:a16="http://schemas.microsoft.com/office/drawing/2014/main" id="{6FE8A572-C653-F44C-DEA8-71901CFB5711}"/>
              </a:ext>
            </a:extLst>
          </p:cNvPr>
          <p:cNvSpPr txBox="1"/>
          <p:nvPr/>
        </p:nvSpPr>
        <p:spPr>
          <a:xfrm>
            <a:off x="685800" y="1347541"/>
            <a:ext cx="4572000" cy="400110"/>
          </a:xfrm>
          <a:prstGeom prst="rect">
            <a:avLst/>
          </a:prstGeom>
          <a:noFill/>
        </p:spPr>
        <p:txBody>
          <a:bodyPr wrap="square">
            <a:spAutoFit/>
          </a:bodyPr>
          <a:lstStyle/>
          <a:p>
            <a:r>
              <a:rPr lang="en-US" sz="2000" dirty="0">
                <a:effectLst/>
                <a:latin typeface="Times New Roman" panose="02020603050405020304" pitchFamily="18" charset="0"/>
                <a:ea typeface="Arial MT"/>
                <a:cs typeface="Times New Roman" panose="02020603050405020304" pitchFamily="18" charset="0"/>
              </a:rPr>
              <a:t>User</a:t>
            </a:r>
            <a:r>
              <a:rPr lang="en-US" sz="2000" spc="-5" dirty="0">
                <a:effectLst/>
                <a:latin typeface="Times New Roman" panose="02020603050405020304" pitchFamily="18" charset="0"/>
                <a:ea typeface="Arial MT"/>
                <a:cs typeface="Times New Roman" panose="02020603050405020304" pitchFamily="18" charset="0"/>
              </a:rPr>
              <a:t> </a:t>
            </a:r>
            <a:r>
              <a:rPr lang="en-US" sz="2000" dirty="0">
                <a:effectLst/>
                <a:latin typeface="Times New Roman" panose="02020603050405020304" pitchFamily="18" charset="0"/>
                <a:ea typeface="Arial MT"/>
                <a:cs typeface="Times New Roman" panose="02020603050405020304" pitchFamily="18" charset="0"/>
              </a:rPr>
              <a:t>activity</a:t>
            </a:r>
            <a:r>
              <a:rPr lang="en-US" sz="2000" spc="-15" dirty="0">
                <a:effectLst/>
                <a:latin typeface="Times New Roman" panose="02020603050405020304" pitchFamily="18" charset="0"/>
                <a:ea typeface="Arial MT"/>
                <a:cs typeface="Times New Roman" panose="02020603050405020304" pitchFamily="18" charset="0"/>
              </a:rPr>
              <a:t> </a:t>
            </a:r>
            <a:r>
              <a:rPr lang="en-US" sz="2000" dirty="0">
                <a:effectLst/>
                <a:latin typeface="Times New Roman" panose="02020603050405020304" pitchFamily="18" charset="0"/>
                <a:ea typeface="Arial MT"/>
                <a:cs typeface="Times New Roman" panose="02020603050405020304" pitchFamily="18" charset="0"/>
              </a:rPr>
              <a:t>diagram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2956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34FB4-B648-E26D-69E8-49ECAD16A46D}"/>
              </a:ext>
            </a:extLst>
          </p:cNvPr>
          <p:cNvSpPr>
            <a:spLocks noGrp="1"/>
          </p:cNvSpPr>
          <p:nvPr>
            <p:ph type="title"/>
          </p:nvPr>
        </p:nvSpPr>
        <p:spPr/>
        <p:txBody>
          <a:bodyPr/>
          <a:lstStyle/>
          <a:p>
            <a:r>
              <a:rPr lang="en-US" b="1" dirty="0">
                <a:latin typeface="Bookman Old Style" panose="02050604050505020204" pitchFamily="18" charset="0"/>
              </a:rPr>
              <a:t>Features</a:t>
            </a:r>
          </a:p>
        </p:txBody>
      </p:sp>
      <p:sp>
        <p:nvSpPr>
          <p:cNvPr id="3" name="TextBox 2">
            <a:extLst>
              <a:ext uri="{FF2B5EF4-FFF2-40B4-BE49-F238E27FC236}">
                <a16:creationId xmlns:a16="http://schemas.microsoft.com/office/drawing/2014/main" id="{4995E196-AD11-B016-E702-BFB21CF331CF}"/>
              </a:ext>
            </a:extLst>
          </p:cNvPr>
          <p:cNvSpPr txBox="1"/>
          <p:nvPr/>
        </p:nvSpPr>
        <p:spPr>
          <a:xfrm>
            <a:off x="457200" y="1371600"/>
            <a:ext cx="8229600" cy="2460738"/>
          </a:xfrm>
          <a:prstGeom prst="rect">
            <a:avLst/>
          </a:prstGeom>
          <a:noFill/>
        </p:spPr>
        <p:txBody>
          <a:bodyPr wrap="square" rtlCol="0">
            <a:spAutoFit/>
          </a:bodyPr>
          <a:lstStyle/>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UI Redesign.</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Shelf Number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Digital Copy Access</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Fine </a:t>
            </a:r>
            <a:r>
              <a:rPr lang="en-US" sz="2000" dirty="0" err="1">
                <a:latin typeface="Times New Roman" panose="02020603050405020304" pitchFamily="18" charset="0"/>
                <a:cs typeface="Times New Roman" panose="02020603050405020304" pitchFamily="18" charset="0"/>
              </a:rPr>
              <a:t>mnagement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3722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64EC6-7C7E-6EE8-BA5A-10EA28EC7D0F}"/>
              </a:ext>
            </a:extLst>
          </p:cNvPr>
          <p:cNvSpPr>
            <a:spLocks noGrp="1"/>
          </p:cNvSpPr>
          <p:nvPr>
            <p:ph type="title"/>
          </p:nvPr>
        </p:nvSpPr>
        <p:spPr/>
        <p:txBody>
          <a:bodyPr/>
          <a:lstStyle/>
          <a:p>
            <a:r>
              <a:rPr lang="en-US" sz="4400" b="1" dirty="0">
                <a:latin typeface="Bookman Old Style" panose="02050604050505020204" pitchFamily="18" charset="0"/>
                <a:cs typeface="Times New Roman" panose="02020603050405020304" pitchFamily="18" charset="0"/>
              </a:rPr>
              <a:t>UI </a:t>
            </a:r>
            <a:r>
              <a:rPr lang="en-US" b="1" dirty="0">
                <a:latin typeface="Bookman Old Style" panose="02050604050505020204" pitchFamily="18" charset="0"/>
              </a:rPr>
              <a:t>Redesign</a:t>
            </a:r>
            <a:r>
              <a:rPr lang="en-US" sz="4400" b="1" dirty="0">
                <a:latin typeface="Bookman Old Style" panose="02050604050505020204" pitchFamily="18" charset="0"/>
                <a:cs typeface="Times New Roman" panose="02020603050405020304" pitchFamily="18" charset="0"/>
              </a:rPr>
              <a:t>.</a:t>
            </a:r>
            <a:endParaRPr lang="en-US" b="1"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3AB5AF58-7F7F-55B3-5CB9-8D0D48954948}"/>
              </a:ext>
            </a:extLst>
          </p:cNvPr>
          <p:cNvSpPr>
            <a:spLocks noGrp="1"/>
          </p:cNvSpPr>
          <p:nvPr>
            <p:ph idx="1"/>
          </p:nvPr>
        </p:nvSpPr>
        <p:spPr/>
        <p:txBody>
          <a:bodyPr/>
          <a:lstStyle/>
          <a:p>
            <a:pPr algn="l">
              <a:lnSpc>
                <a:spcPct val="200000"/>
              </a:lnSpc>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Updated user interface to enhance usability and aesthetics.</a:t>
            </a:r>
          </a:p>
          <a:p>
            <a:pPr algn="l">
              <a:lnSpc>
                <a:spcPct val="200000"/>
              </a:lnSpc>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Streamlined navigation and improved layout for easier browsing.</a:t>
            </a:r>
          </a:p>
          <a:p>
            <a:pPr algn="l">
              <a:lnSpc>
                <a:spcPct val="200000"/>
              </a:lnSpc>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Integration of modern design elements and responsive design for optimal viewing across devices.</a:t>
            </a:r>
          </a:p>
        </p:txBody>
      </p:sp>
    </p:spTree>
    <p:extLst>
      <p:ext uri="{BB962C8B-B14F-4D97-AF65-F5344CB8AC3E}">
        <p14:creationId xmlns:p14="http://schemas.microsoft.com/office/powerpoint/2010/main" val="1373492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B81FC-1771-3FB8-2E49-5DADC8E51AD8}"/>
              </a:ext>
            </a:extLst>
          </p:cNvPr>
          <p:cNvSpPr>
            <a:spLocks noGrp="1"/>
          </p:cNvSpPr>
          <p:nvPr>
            <p:ph type="title"/>
          </p:nvPr>
        </p:nvSpPr>
        <p:spPr/>
        <p:txBody>
          <a:bodyPr/>
          <a:lstStyle/>
          <a:p>
            <a:r>
              <a:rPr lang="en-US" sz="4400" b="1" dirty="0">
                <a:latin typeface="Bookman Old Style" panose="02050604050505020204" pitchFamily="18" charset="0"/>
                <a:cs typeface="Times New Roman" panose="02020603050405020304" pitchFamily="18" charset="0"/>
              </a:rPr>
              <a:t>Shelf Number </a:t>
            </a:r>
            <a:endParaRPr lang="en-US" b="1"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790657E5-8079-A77B-7F6A-49C139EEA091}"/>
              </a:ext>
            </a:extLst>
          </p:cNvPr>
          <p:cNvSpPr>
            <a:spLocks noGrp="1"/>
          </p:cNvSpPr>
          <p:nvPr>
            <p:ph idx="1"/>
          </p:nvPr>
        </p:nvSpPr>
        <p:spPr/>
        <p:txBody>
          <a:bodyPr/>
          <a:lstStyle/>
          <a:p>
            <a:pPr algn="l">
              <a:lnSpc>
                <a:spcPct val="150000"/>
              </a:lnSpc>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Introduction of a new feature allowing users to access shelf numbers for physical books.</a:t>
            </a:r>
          </a:p>
          <a:p>
            <a:pPr algn="l">
              <a:lnSpc>
                <a:spcPct val="150000"/>
              </a:lnSpc>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Seamless integration into the website's interface for easy access during browsing.</a:t>
            </a:r>
          </a:p>
          <a:p>
            <a:pPr algn="l">
              <a:lnSpc>
                <a:spcPct val="150000"/>
              </a:lnSpc>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Enhanced user experience by facilitating quicker book location and retrieval.</a:t>
            </a:r>
          </a:p>
        </p:txBody>
      </p:sp>
    </p:spTree>
    <p:extLst>
      <p:ext uri="{BB962C8B-B14F-4D97-AF65-F5344CB8AC3E}">
        <p14:creationId xmlns:p14="http://schemas.microsoft.com/office/powerpoint/2010/main" val="128116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32F42-C9FA-085C-E829-37041CC0F7E3}"/>
              </a:ext>
            </a:extLst>
          </p:cNvPr>
          <p:cNvSpPr>
            <a:spLocks noGrp="1"/>
          </p:cNvSpPr>
          <p:nvPr>
            <p:ph type="title"/>
          </p:nvPr>
        </p:nvSpPr>
        <p:spPr/>
        <p:txBody>
          <a:bodyPr/>
          <a:lstStyle/>
          <a:p>
            <a:r>
              <a:rPr lang="en-US" b="1" i="0" dirty="0">
                <a:effectLst/>
                <a:latin typeface="Bookman Old Style" panose="02050604050505020204" pitchFamily="18" charset="0"/>
              </a:rPr>
              <a:t>Digital Copy Access</a:t>
            </a:r>
            <a:endParaRPr lang="en-US"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AF01E2F8-F80F-429E-5890-0C2ECCF146A4}"/>
              </a:ext>
            </a:extLst>
          </p:cNvPr>
          <p:cNvSpPr>
            <a:spLocks noGrp="1"/>
          </p:cNvSpPr>
          <p:nvPr>
            <p:ph idx="1"/>
          </p:nvPr>
        </p:nvSpPr>
        <p:spPr/>
        <p:txBody>
          <a:bodyPr/>
          <a:lstStyle/>
          <a:p>
            <a:pPr algn="l">
              <a:lnSpc>
                <a:spcPct val="200000"/>
              </a:lnSpc>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Introduction of digital copy access feature, enabling users to view or download digital copies of books.</a:t>
            </a:r>
          </a:p>
          <a:p>
            <a:pPr algn="l">
              <a:lnSpc>
                <a:spcPct val="200000"/>
              </a:lnSpc>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Convenient access to digital resources, providing flexibility for users to read offline or on digital devices.</a:t>
            </a:r>
          </a:p>
          <a:p>
            <a:pPr algn="l">
              <a:lnSpc>
                <a:spcPct val="200000"/>
              </a:lnSpc>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Integration of secure access controls to ensure copyright compliance and protect intellectual property.</a:t>
            </a:r>
          </a:p>
        </p:txBody>
      </p:sp>
    </p:spTree>
    <p:extLst>
      <p:ext uri="{BB962C8B-B14F-4D97-AF65-F5344CB8AC3E}">
        <p14:creationId xmlns:p14="http://schemas.microsoft.com/office/powerpoint/2010/main" val="2131916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AB8DA-1442-72A6-D220-6E676A05830D}"/>
              </a:ext>
            </a:extLst>
          </p:cNvPr>
          <p:cNvSpPr>
            <a:spLocks noGrp="1"/>
          </p:cNvSpPr>
          <p:nvPr>
            <p:ph type="title"/>
          </p:nvPr>
        </p:nvSpPr>
        <p:spPr/>
        <p:txBody>
          <a:bodyPr/>
          <a:lstStyle/>
          <a:p>
            <a:r>
              <a:rPr lang="en-US" b="1" i="0" dirty="0">
                <a:effectLst/>
                <a:latin typeface="Söhne"/>
              </a:rPr>
              <a:t>Fine Management:</a:t>
            </a:r>
            <a:endParaRPr lang="en-US" dirty="0"/>
          </a:p>
        </p:txBody>
      </p:sp>
      <p:sp>
        <p:nvSpPr>
          <p:cNvPr id="3" name="Content Placeholder 2">
            <a:extLst>
              <a:ext uri="{FF2B5EF4-FFF2-40B4-BE49-F238E27FC236}">
                <a16:creationId xmlns:a16="http://schemas.microsoft.com/office/drawing/2014/main" id="{6F92089F-46BC-FA9E-962B-BB7F10A840FA}"/>
              </a:ext>
            </a:extLst>
          </p:cNvPr>
          <p:cNvSpPr>
            <a:spLocks noGrp="1"/>
          </p:cNvSpPr>
          <p:nvPr>
            <p:ph idx="1"/>
          </p:nvPr>
        </p:nvSpPr>
        <p:spPr/>
        <p:txBody>
          <a:bodyPr/>
          <a:lstStyle/>
          <a:p>
            <a:pPr algn="l">
              <a:lnSpc>
                <a:spcPct val="200000"/>
              </a:lnSpc>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Implementation of fine management system for handling late book returns.</a:t>
            </a:r>
          </a:p>
          <a:p>
            <a:pPr algn="l">
              <a:lnSpc>
                <a:spcPct val="200000"/>
              </a:lnSpc>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Automated calculation of fines based on predefined rules and policies.</a:t>
            </a:r>
          </a:p>
          <a:p>
            <a:pPr algn="l">
              <a:lnSpc>
                <a:spcPct val="200000"/>
              </a:lnSpc>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User notification system to alert users about overdue books and pending fines.</a:t>
            </a:r>
          </a:p>
          <a:p>
            <a:pPr>
              <a:lnSpc>
                <a:spcPct val="200000"/>
              </a:lnSpc>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1760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Bookman Old Style" pitchFamily="18" charset="0"/>
              </a:rPr>
              <a:t>ADVANTAGES</a:t>
            </a:r>
          </a:p>
        </p:txBody>
      </p:sp>
      <p:sp>
        <p:nvSpPr>
          <p:cNvPr id="3" name="Content Placeholder 2"/>
          <p:cNvSpPr>
            <a:spLocks noGrp="1"/>
          </p:cNvSpPr>
          <p:nvPr>
            <p:ph idx="1"/>
          </p:nvPr>
        </p:nvSpPr>
        <p:spPr>
          <a:xfrm>
            <a:off x="457200" y="1219200"/>
            <a:ext cx="8382000" cy="4800599"/>
          </a:xfrm>
        </p:spPr>
        <p:txBody>
          <a:bodyPr/>
          <a:lstStyle/>
          <a:p>
            <a:pPr algn="l">
              <a:lnSpc>
                <a:spcPct val="150000"/>
              </a:lnSpc>
            </a:pPr>
            <a:r>
              <a:rPr lang="en-US" sz="1600" i="0" dirty="0">
                <a:solidFill>
                  <a:schemeClr val="tx1"/>
                </a:solidFill>
                <a:effectLst/>
                <a:latin typeface="Times New Roman" panose="02020603050405020304" pitchFamily="18" charset="0"/>
                <a:cs typeface="Times New Roman" panose="02020603050405020304" pitchFamily="18" charset="0"/>
              </a:rPr>
              <a:t> Helps streamline day-to-day library operations. </a:t>
            </a:r>
          </a:p>
          <a:p>
            <a:pPr>
              <a:lnSpc>
                <a:spcPct val="150000"/>
              </a:lnSpc>
            </a:pPr>
            <a:r>
              <a:rPr lang="en-US" sz="1600" i="0" dirty="0">
                <a:solidFill>
                  <a:schemeClr val="tx1"/>
                </a:solidFill>
                <a:effectLst/>
                <a:latin typeface="Times New Roman" panose="02020603050405020304" pitchFamily="18" charset="0"/>
                <a:cs typeface="Times New Roman" panose="02020603050405020304" pitchFamily="18" charset="0"/>
              </a:rPr>
              <a:t> Simple and easy to use.</a:t>
            </a:r>
          </a:p>
          <a:p>
            <a:pPr>
              <a:lnSpc>
                <a:spcPct val="150000"/>
              </a:lnSpc>
            </a:pPr>
            <a:r>
              <a:rPr lang="en-US" sz="1600" i="0" dirty="0">
                <a:solidFill>
                  <a:schemeClr val="tx1"/>
                </a:solidFill>
                <a:effectLst/>
                <a:latin typeface="Times New Roman" panose="02020603050405020304" pitchFamily="18" charset="0"/>
                <a:cs typeface="Times New Roman" panose="02020603050405020304" pitchFamily="18" charset="0"/>
              </a:rPr>
              <a:t> Slashes down the operating costs. </a:t>
            </a:r>
          </a:p>
          <a:p>
            <a:pPr>
              <a:lnSpc>
                <a:spcPct val="150000"/>
              </a:lnSpc>
            </a:pPr>
            <a:r>
              <a:rPr lang="en-US" sz="1600" i="0" dirty="0">
                <a:solidFill>
                  <a:schemeClr val="tx1"/>
                </a:solidFill>
                <a:effectLst/>
                <a:latin typeface="Times New Roman" panose="02020603050405020304" pitchFamily="18" charset="0"/>
                <a:cs typeface="Times New Roman" panose="02020603050405020304" pitchFamily="18" charset="0"/>
              </a:rPr>
              <a:t>Time and effort saver:</a:t>
            </a:r>
          </a:p>
          <a:p>
            <a:pPr>
              <a:lnSpc>
                <a:spcPct val="150000"/>
              </a:lnSpc>
            </a:pPr>
            <a:endParaRPr lang="en-US" sz="1600" i="0" dirty="0">
              <a:solidFill>
                <a:schemeClr val="tx1"/>
              </a:solidFill>
              <a:effectLst/>
              <a:latin typeface="Times New Roman" panose="02020603050405020304" pitchFamily="18" charset="0"/>
              <a:cs typeface="Times New Roman" panose="02020603050405020304" pitchFamily="18" charset="0"/>
            </a:endParaRPr>
          </a:p>
          <a:p>
            <a:pPr algn="l">
              <a:lnSpc>
                <a:spcPct val="150000"/>
              </a:lnSpc>
            </a:pPr>
            <a:endParaRPr lang="en-US" sz="1600" i="0" dirty="0">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457200" y="304800"/>
            <a:ext cx="8458200" cy="746772"/>
          </a:xfrm>
        </p:spPr>
        <p:txBody>
          <a:bodyPr>
            <a:normAutofit/>
          </a:bodyPr>
          <a:lstStyle/>
          <a:p>
            <a:r>
              <a:rPr lang="en-IN" sz="3600" b="1" dirty="0">
                <a:latin typeface="Bookman Old Style" pitchFamily="18" charset="0"/>
              </a:rPr>
              <a:t>CONCLUSION</a:t>
            </a:r>
            <a:endParaRPr lang="en-US" sz="3600" b="1" dirty="0">
              <a:latin typeface="Book Antiqua" pitchFamily="18" charset="0"/>
            </a:endParaRPr>
          </a:p>
        </p:txBody>
      </p:sp>
      <p:sp>
        <p:nvSpPr>
          <p:cNvPr id="21506" name="Content Placeholder 2"/>
          <p:cNvSpPr>
            <a:spLocks noGrp="1"/>
          </p:cNvSpPr>
          <p:nvPr>
            <p:ph idx="1"/>
          </p:nvPr>
        </p:nvSpPr>
        <p:spPr>
          <a:xfrm>
            <a:off x="457200" y="1447800"/>
            <a:ext cx="8382000" cy="4648200"/>
          </a:xfrm>
        </p:spPr>
        <p:txBody>
          <a:bodyPr>
            <a:noAutofit/>
          </a:bodyPr>
          <a:lstStyle/>
          <a:p>
            <a:pPr marL="0" indent="0" algn="just" fontAlgn="auto">
              <a:lnSpc>
                <a:spcPct val="150000"/>
              </a:lnSpc>
              <a:spcAft>
                <a:spcPts val="0"/>
              </a:spcAft>
              <a:buNone/>
              <a:defRPr/>
            </a:pPr>
            <a:r>
              <a:rPr lang="en-US" sz="1800" b="0" i="0" dirty="0">
                <a:solidFill>
                  <a:schemeClr val="tx1"/>
                </a:solidFill>
                <a:effectLst/>
                <a:latin typeface="Times New Roman" panose="02020603050405020304" pitchFamily="18" charset="0"/>
                <a:cs typeface="Times New Roman" panose="02020603050405020304" pitchFamily="18" charset="0"/>
              </a:rPr>
              <a:t>We have successfully designed a Digital Library </a:t>
            </a:r>
            <a:r>
              <a:rPr lang="en-US" sz="1800" b="0" i="0" dirty="0" err="1">
                <a:solidFill>
                  <a:schemeClr val="tx1"/>
                </a:solidFill>
                <a:effectLst/>
                <a:latin typeface="Times New Roman" panose="02020603050405020304" pitchFamily="18" charset="0"/>
                <a:cs typeface="Times New Roman" panose="02020603050405020304" pitchFamily="18" charset="0"/>
              </a:rPr>
              <a:t>Systemusing</a:t>
            </a:r>
            <a:r>
              <a:rPr lang="en-US" sz="1800" b="0" i="0" dirty="0">
                <a:solidFill>
                  <a:schemeClr val="tx1"/>
                </a:solidFill>
                <a:effectLst/>
                <a:latin typeface="Times New Roman" panose="02020603050405020304" pitchFamily="18" charset="0"/>
                <a:cs typeface="Times New Roman" panose="02020603050405020304" pitchFamily="18" charset="0"/>
              </a:rPr>
              <a:t> HTML, CSS, JAVASCRIPT, PHP, and MySQL with a decent UI. The thesis project is focused on the development of a system that is both efficient and user-friendly when it comes to providing library management services to users. To achieve the goal, the author used PHP, MySQL, JavaScript Bootstrap, and so on. The challenging part of the project is to design and implement the database. After overcoming the challenges, the author successfully implemented the project and tested its necessary functionalities. All the basic functionality testing is successful which the author planned to do in the LMS. The project is in the prototype stage and it's not fullay ready for actual use, as there is a need to add more functionalities to ensure a good user experience.</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Bookman Old Style" pitchFamily="18" charset="0"/>
              </a:rPr>
              <a:t>REFERENCES</a:t>
            </a:r>
          </a:p>
        </p:txBody>
      </p:sp>
      <p:sp>
        <p:nvSpPr>
          <p:cNvPr id="3" name="Content Placeholder 2"/>
          <p:cNvSpPr>
            <a:spLocks noGrp="1"/>
          </p:cNvSpPr>
          <p:nvPr>
            <p:ph idx="1"/>
          </p:nvPr>
        </p:nvSpPr>
        <p:spPr>
          <a:xfrm>
            <a:off x="533400" y="1295400"/>
            <a:ext cx="8305800" cy="4830763"/>
          </a:xfrm>
        </p:spPr>
        <p:txBody>
          <a:bodyPr/>
          <a:lstStyle/>
          <a:p>
            <a:pPr algn="just">
              <a:lnSpc>
                <a:spcPct val="15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Adamson and Veronica. (2008). JISC &amp; SCONUL Library Management Systems Study. Sheffield, UK: Sero Consulting. p. 51. Retrieved on 06 August 2015.</a:t>
            </a:r>
          </a:p>
          <a:p>
            <a:pPr algn="just">
              <a:lnSpc>
                <a:spcPct val="15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 Ademodi, D.T., &amp; Adepoju, E. O. (2009). Computer skill among Librarians in Academic Libraries on Ondo and Ekiti States, Nigeria. Library Philosophy &amp; Practice. </a:t>
            </a:r>
          </a:p>
          <a:p>
            <a:pPr algn="just">
              <a:lnSpc>
                <a:spcPct val="150000"/>
              </a:lnSpc>
              <a:spcBef>
                <a:spcPts val="0"/>
              </a:spcBef>
              <a:spcAft>
                <a:spcPts val="0"/>
              </a:spcAft>
            </a:pPr>
            <a:r>
              <a:rPr lang="en-US" sz="1800" dirty="0">
                <a:solidFill>
                  <a:schemeClr val="tx1"/>
                </a:solidFill>
                <a:latin typeface="Times New Roman" panose="02020603050405020304" pitchFamily="18" charset="0"/>
                <a:cs typeface="Times New Roman" panose="02020603050405020304" pitchFamily="18" charset="0"/>
              </a:rPr>
              <a:t>Adomi, E. E., &amp; Anie, S. O. (2006). An Assessment of Computer Literacy Skills of Professionals in Nigerian University libraries. Library Hi Tech News, Vol.23 (2) pp.10-14.</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1143000"/>
            <a:ext cx="7743852" cy="1447800"/>
          </a:xfrm>
        </p:spPr>
        <p:txBody>
          <a:bodyPr>
            <a:normAutofit/>
          </a:bodyPr>
          <a:lstStyle/>
          <a:p>
            <a:pPr algn="ctr"/>
            <a:r>
              <a:rPr lang="en-US" sz="3600" b="1" dirty="0">
                <a:latin typeface="Bookman Old Style" panose="02050604050505020204" pitchFamily="18" charset="0"/>
              </a:rPr>
              <a:t>THANK YOU</a:t>
            </a:r>
            <a:endParaRPr lang="en-IN" sz="3600" b="1" dirty="0">
              <a:latin typeface="Bookman Old Style" panose="020506040505050202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4543</TotalTime>
  <Words>1377</Words>
  <Application>Microsoft Office PowerPoint</Application>
  <PresentationFormat>On-screen Show (4:3)</PresentationFormat>
  <Paragraphs>97</Paragraphs>
  <Slides>22</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Book Antiqua</vt:lpstr>
      <vt:lpstr>Bookman Old Style</vt:lpstr>
      <vt:lpstr>Calibri</vt:lpstr>
      <vt:lpstr>Söhne</vt:lpstr>
      <vt:lpstr>Times New Roman</vt:lpstr>
      <vt:lpstr>Theme1</vt:lpstr>
      <vt:lpstr>A systematics implementation of AI- Enhanced Central Library system with Chatbot. </vt:lpstr>
      <vt:lpstr>CONTENTS</vt:lpstr>
      <vt:lpstr>AIM</vt:lpstr>
      <vt:lpstr>ABSTRACT</vt:lpstr>
      <vt:lpstr>INTRODUCTION</vt:lpstr>
      <vt:lpstr>PROBLEM DEFINITION</vt:lpstr>
      <vt:lpstr>PROBLEM SOLUTION</vt:lpstr>
      <vt:lpstr>FUTURE SCOPE </vt:lpstr>
      <vt:lpstr>HARDWARE REQUIREMENT</vt:lpstr>
      <vt:lpstr>SOFTWARE REQUIREMENTS</vt:lpstr>
      <vt:lpstr>SYSTEM ARCHITECTURE</vt:lpstr>
      <vt:lpstr>PROJECT METHOD</vt:lpstr>
      <vt:lpstr>PROJECT METHOD</vt:lpstr>
      <vt:lpstr>Features</vt:lpstr>
      <vt:lpstr>UI Redesign.</vt:lpstr>
      <vt:lpstr>Shelf Number </vt:lpstr>
      <vt:lpstr>Digital Copy Access</vt:lpstr>
      <vt:lpstr>Fine Management:</vt:lpstr>
      <vt:lpstr>ADVANTAGES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Missing Value Imputations  of Heterogeneous Datasets</dc:title>
  <dc:creator>Comp HOD Laptop</dc:creator>
  <cp:lastModifiedBy>Shlok Thete</cp:lastModifiedBy>
  <cp:revision>330</cp:revision>
  <dcterms:created xsi:type="dcterms:W3CDTF">2013-08-30T17:31:54Z</dcterms:created>
  <dcterms:modified xsi:type="dcterms:W3CDTF">2024-03-31T17:27:29Z</dcterms:modified>
</cp:coreProperties>
</file>